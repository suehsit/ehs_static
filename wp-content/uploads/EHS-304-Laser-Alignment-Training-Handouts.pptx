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6" r:id="rId1"/>
  </p:sldMasterIdLst>
  <p:notesMasterIdLst>
    <p:notesMasterId r:id="rId16"/>
  </p:notesMasterIdLst>
  <p:handoutMasterIdLst>
    <p:handoutMasterId r:id="rId17"/>
  </p:handoutMasterIdLst>
  <p:sldIdLst>
    <p:sldId id="256" r:id="rId2"/>
    <p:sldId id="262" r:id="rId3"/>
    <p:sldId id="266" r:id="rId4"/>
    <p:sldId id="279" r:id="rId5"/>
    <p:sldId id="260" r:id="rId6"/>
    <p:sldId id="261" r:id="rId7"/>
    <p:sldId id="276" r:id="rId8"/>
    <p:sldId id="280" r:id="rId9"/>
    <p:sldId id="270" r:id="rId10"/>
    <p:sldId id="269" r:id="rId11"/>
    <p:sldId id="258" r:id="rId12"/>
    <p:sldId id="259" r:id="rId13"/>
    <p:sldId id="267" r:id="rId14"/>
    <p:sldId id="275" r:id="rId15"/>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4660"/>
  </p:normalViewPr>
  <p:slideViewPr>
    <p:cSldViewPr snapToGrid="0">
      <p:cViewPr varScale="1">
        <p:scale>
          <a:sx n="68" d="100"/>
          <a:sy n="68" d="100"/>
        </p:scale>
        <p:origin x="124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829E451C-2148-4EC6-B3C7-8A86AC707DFF}" type="datetimeFigureOut">
              <a:rPr lang="en-US" smtClean="0"/>
              <a:t>9/9/2020</a:t>
            </a:fld>
            <a:endParaRPr lang="en-US"/>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CFD0DED9-6E29-4D93-A970-1857844D5161}" type="slidenum">
              <a:rPr lang="en-US" smtClean="0"/>
              <a:t>‹#›</a:t>
            </a:fld>
            <a:endParaRPr lang="en-US"/>
          </a:p>
        </p:txBody>
      </p:sp>
    </p:spTree>
    <p:extLst>
      <p:ext uri="{BB962C8B-B14F-4D97-AF65-F5344CB8AC3E}">
        <p14:creationId xmlns:p14="http://schemas.microsoft.com/office/powerpoint/2010/main" val="1489944734"/>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B84B4D5-9079-4B6A-A591-AA50C7D059C2}" type="datetimeFigureOut">
              <a:rPr lang="en-US" smtClean="0"/>
              <a:t>9/9/2020</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E00FBE5C-BA47-47AB-A9D8-1DF35D6289DD}" type="slidenum">
              <a:rPr lang="en-US" smtClean="0"/>
              <a:t>‹#›</a:t>
            </a:fld>
            <a:endParaRPr lang="en-US"/>
          </a:p>
        </p:txBody>
      </p:sp>
    </p:spTree>
    <p:extLst>
      <p:ext uri="{BB962C8B-B14F-4D97-AF65-F5344CB8AC3E}">
        <p14:creationId xmlns:p14="http://schemas.microsoft.com/office/powerpoint/2010/main" val="166071330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0CE3C85-5B52-406A-A5DA-DEFBC8FB0D84}" type="datetime1">
              <a:rPr lang="en-US" smtClean="0"/>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2283404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524ABA-D414-4955-BFEB-C17C843DBAE9}" type="datetime1">
              <a:rPr lang="en-US" smtClean="0"/>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1506944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B9C5DAA-F53B-41ED-A361-A858A432F6FC}" type="datetime1">
              <a:rPr lang="en-US" smtClean="0"/>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6500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A2A2F0-FD79-41BF-94EE-A8D1335F7F5E}" type="datetime1">
              <a:rPr lang="en-US" smtClean="0"/>
              <a:t>9/9/2020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1098353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1922EA-28EA-4051-BF8D-ED98F822C296}" type="datetime1">
              <a:rPr lang="en-US" smtClean="0"/>
              <a:t>9/9/2020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1712678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A89E8D1-D8BD-42B7-A4FD-2E8369676F8F}" type="datetime1">
              <a:rPr lang="en-US" smtClean="0"/>
              <a:t>9/9/2020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1189233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002D57-446A-4141-9C8C-A888494E6177}" type="datetime1">
              <a:rPr lang="en-US" smtClean="0"/>
              <a:t>9/9/2020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3672914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4CCE1F1-E3AB-49BB-995A-7D9CBD641255}" type="datetime1">
              <a:rPr lang="en-US" smtClean="0"/>
              <a:t>9/9/2020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1872206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EB1B122-21FB-47B9-9760-E68BC890FE1C}" type="datetime1">
              <a:rPr lang="en-US" smtClean="0"/>
              <a:t>9/9/2020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2690601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33834E-BD31-4448-AD9C-14EB94F677ED}" type="datetime1">
              <a:rPr lang="en-US" smtClean="0"/>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124215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DA9A63-7176-4B24-83BB-CD9B62ACF4DD}" type="datetime1">
              <a:rPr lang="en-US" smtClean="0"/>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8DD42E-82A4-4B2D-82BB-498554518294}" type="slidenum">
              <a:rPr lang="en-US" smtClean="0"/>
              <a:t>‹#›</a:t>
            </a:fld>
            <a:endParaRPr lang="en-US"/>
          </a:p>
        </p:txBody>
      </p:sp>
    </p:spTree>
    <p:extLst>
      <p:ext uri="{BB962C8B-B14F-4D97-AF65-F5344CB8AC3E}">
        <p14:creationId xmlns:p14="http://schemas.microsoft.com/office/powerpoint/2010/main" val="3477003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9A98E3-51AE-477E-975D-47B0BCBB81E5}" type="datetime1">
              <a:rPr lang="en-US" smtClean="0"/>
              <a:t>9/9/2020</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8DD42E-82A4-4B2D-82BB-498554518294}" type="slidenum">
              <a:rPr lang="en-US" smtClean="0"/>
              <a:t>‹#›</a:t>
            </a:fld>
            <a:endParaRPr lang="en-US"/>
          </a:p>
        </p:txBody>
      </p:sp>
    </p:spTree>
    <p:extLst>
      <p:ext uri="{BB962C8B-B14F-4D97-AF65-F5344CB8AC3E}">
        <p14:creationId xmlns:p14="http://schemas.microsoft.com/office/powerpoint/2010/main" val="3212254951"/>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5208" y="2388092"/>
            <a:ext cx="8575829" cy="1008623"/>
          </a:xfrm>
        </p:spPr>
        <p:txBody>
          <a:bodyPr>
            <a:normAutofit/>
          </a:bodyPr>
          <a:lstStyle/>
          <a:p>
            <a:r>
              <a:rPr lang="en-US" sz="4400" b="1" dirty="0">
                <a:solidFill>
                  <a:schemeClr val="accent5">
                    <a:lumMod val="75000"/>
                  </a:schemeClr>
                </a:solidFill>
              </a:rPr>
              <a:t>EHS 304 Laser Alignment Training</a:t>
            </a:r>
          </a:p>
        </p:txBody>
      </p:sp>
      <p:sp>
        <p:nvSpPr>
          <p:cNvPr id="3" name="Subtitle 2"/>
          <p:cNvSpPr>
            <a:spLocks noGrp="1"/>
          </p:cNvSpPr>
          <p:nvPr>
            <p:ph type="subTitle" idx="1"/>
          </p:nvPr>
        </p:nvSpPr>
        <p:spPr>
          <a:xfrm>
            <a:off x="275208" y="3846305"/>
            <a:ext cx="8700116" cy="958240"/>
          </a:xfrm>
        </p:spPr>
        <p:txBody>
          <a:bodyPr/>
          <a:lstStyle/>
          <a:p>
            <a:r>
              <a:rPr lang="en-US" dirty="0"/>
              <a:t>Laser Safety Program</a:t>
            </a:r>
          </a:p>
          <a:p>
            <a:r>
              <a:rPr lang="en-US" dirty="0"/>
              <a:t>2018</a:t>
            </a:r>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493" r="3320"/>
          <a:stretch/>
        </p:blipFill>
        <p:spPr bwMode="auto">
          <a:xfrm>
            <a:off x="0" y="0"/>
            <a:ext cx="9144000" cy="8611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CCCCCC"/>
                  </a:outerShdw>
                </a:effectLst>
              </a14:hiddenEffects>
            </a:ext>
          </a:extLst>
        </p:spPr>
      </p:pic>
      <p:pic>
        <p:nvPicPr>
          <p:cNvPr id="4" name="Picture 3"/>
          <p:cNvPicPr>
            <a:picLocks noChangeAspect="1"/>
          </p:cNvPicPr>
          <p:nvPr/>
        </p:nvPicPr>
        <p:blipFill rotWithShape="1">
          <a:blip r:embed="rId3"/>
          <a:srcRect b="1137"/>
          <a:stretch/>
        </p:blipFill>
        <p:spPr>
          <a:xfrm>
            <a:off x="63622" y="6029664"/>
            <a:ext cx="2953306" cy="731666"/>
          </a:xfrm>
          <a:prstGeom prst="rect">
            <a:avLst/>
          </a:prstGeom>
        </p:spPr>
      </p:pic>
    </p:spTree>
    <p:extLst>
      <p:ext uri="{BB962C8B-B14F-4D97-AF65-F5344CB8AC3E}">
        <p14:creationId xmlns:p14="http://schemas.microsoft.com/office/powerpoint/2010/main" val="1012531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A8DD42E-82A4-4B2D-82BB-498554518294}" type="slidenum">
              <a:rPr lang="en-US" smtClean="0"/>
              <a:t>2</a:t>
            </a:fld>
            <a:endParaRPr lang="en-US"/>
          </a:p>
        </p:txBody>
      </p:sp>
    </p:spTree>
    <p:extLst>
      <p:ext uri="{BB962C8B-B14F-4D97-AF65-F5344CB8AC3E}">
        <p14:creationId xmlns:p14="http://schemas.microsoft.com/office/powerpoint/2010/main" val="32699364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796014" cy="926123"/>
          </a:xfrm>
        </p:spPr>
        <p:txBody>
          <a:bodyPr>
            <a:normAutofit/>
          </a:bodyPr>
          <a:lstStyle/>
          <a:p>
            <a:r>
              <a:rPr lang="en-US" sz="4000" b="1" dirty="0">
                <a:solidFill>
                  <a:schemeClr val="accent5">
                    <a:lumMod val="75000"/>
                  </a:schemeClr>
                </a:solidFill>
              </a:rPr>
              <a:t>Exercise # 1. Wedge Window Alignment</a:t>
            </a:r>
          </a:p>
        </p:txBody>
      </p:sp>
      <p:sp>
        <p:nvSpPr>
          <p:cNvPr id="67" name="Slide Number Placeholder 66"/>
          <p:cNvSpPr>
            <a:spLocks noGrp="1"/>
          </p:cNvSpPr>
          <p:nvPr>
            <p:ph type="sldNum" sz="quarter" idx="12"/>
          </p:nvPr>
        </p:nvSpPr>
        <p:spPr/>
        <p:txBody>
          <a:bodyPr/>
          <a:lstStyle/>
          <a:p>
            <a:fld id="{9A8DD42E-82A4-4B2D-82BB-498554518294}" type="slidenum">
              <a:rPr lang="en-US" smtClean="0"/>
              <a:t>3</a:t>
            </a:fld>
            <a:endParaRPr lang="en-US" dirty="0"/>
          </a:p>
        </p:txBody>
      </p:sp>
      <p:sp>
        <p:nvSpPr>
          <p:cNvPr id="14" name="Rectangle 20"/>
          <p:cNvSpPr>
            <a:spLocks noChangeArrowheads="1"/>
          </p:cNvSpPr>
          <p:nvPr/>
        </p:nvSpPr>
        <p:spPr bwMode="auto">
          <a:xfrm>
            <a:off x="0" y="765647"/>
            <a:ext cx="8266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Aft>
                <a:spcPts val="1200"/>
              </a:spcAft>
              <a:buNone/>
              <a:tabLst>
                <a:tab pos="1997075" algn="l"/>
              </a:tabLst>
              <a:defRPr/>
            </a:pPr>
            <a:r>
              <a:rPr lang="en-US" sz="1800" dirty="0">
                <a:solidFill>
                  <a:schemeClr val="accent5">
                    <a:lumMod val="75000"/>
                  </a:schemeClr>
                </a:solidFill>
                <a:latin typeface="+mn-lt"/>
                <a:ea typeface="+mn-ea"/>
              </a:rPr>
              <a:t>Maximum time for completing the exercise: </a:t>
            </a:r>
            <a:r>
              <a:rPr lang="en-US" sz="1800" dirty="0">
                <a:solidFill>
                  <a:schemeClr val="accent5">
                    <a:lumMod val="75000"/>
                  </a:schemeClr>
                </a:solidFill>
                <a:latin typeface="+mn-lt"/>
                <a:ea typeface="ＭＳ Ｐゴシック" charset="-128"/>
              </a:rPr>
              <a:t>30 minutes</a:t>
            </a:r>
            <a:endParaRPr lang="en-US" altLang="en-US" sz="1800" dirty="0">
              <a:solidFill>
                <a:schemeClr val="accent5">
                  <a:lumMod val="75000"/>
                </a:schemeClr>
              </a:solidFill>
              <a:latin typeface="+mn-lt"/>
              <a:ea typeface="+mn-ea"/>
            </a:endParaRPr>
          </a:p>
        </p:txBody>
      </p:sp>
      <p:sp>
        <p:nvSpPr>
          <p:cNvPr id="68" name="Rectangle 67"/>
          <p:cNvSpPr/>
          <p:nvPr/>
        </p:nvSpPr>
        <p:spPr>
          <a:xfrm>
            <a:off x="265232" y="1278321"/>
            <a:ext cx="8459760" cy="4770537"/>
          </a:xfrm>
          <a:prstGeom prst="rect">
            <a:avLst/>
          </a:prstGeom>
          <a:ln w="19050">
            <a:noFill/>
          </a:ln>
        </p:spPr>
        <p:style>
          <a:lnRef idx="1">
            <a:schemeClr val="accent1"/>
          </a:lnRef>
          <a:fillRef idx="0">
            <a:schemeClr val="accent1"/>
          </a:fillRef>
          <a:effectRef idx="0">
            <a:schemeClr val="accent1"/>
          </a:effectRef>
          <a:fontRef idx="minor">
            <a:schemeClr val="tx1"/>
          </a:fontRef>
        </p:style>
        <p:txBody>
          <a:bodyPr wrap="square">
            <a:spAutoFit/>
          </a:bodyPr>
          <a:lstStyle/>
          <a:p>
            <a:pPr>
              <a:spcBef>
                <a:spcPct val="0"/>
              </a:spcBef>
              <a:spcAft>
                <a:spcPts val="1200"/>
              </a:spcAft>
              <a:buNone/>
            </a:pPr>
            <a:r>
              <a:rPr lang="en-US" altLang="en-US" b="1" u="sng" dirty="0"/>
              <a:t>Overview</a:t>
            </a:r>
          </a:p>
          <a:p>
            <a:pPr>
              <a:spcBef>
                <a:spcPct val="0"/>
              </a:spcBef>
              <a:spcAft>
                <a:spcPts val="1200"/>
              </a:spcAft>
            </a:pPr>
            <a:r>
              <a:rPr lang="en-US" altLang="en-US" dirty="0"/>
              <a:t>The alignment and setup of wedge window assembly presents high potential for laser eye injury and uncontrolled secondary back reflection as a wedge consist of two reflective surfaces and can potentially be oriented in such a way to expose directly the back reflection upward or towards an undesired path. The users will learn how to safely mount and setup a wedge window.</a:t>
            </a:r>
          </a:p>
          <a:p>
            <a:pPr>
              <a:spcBef>
                <a:spcPct val="0"/>
              </a:spcBef>
              <a:spcAft>
                <a:spcPts val="1200"/>
              </a:spcAft>
            </a:pPr>
            <a:r>
              <a:rPr lang="en-US" altLang="en-US" dirty="0"/>
              <a:t>The wedge window used in this exercise is:</a:t>
            </a:r>
          </a:p>
          <a:p>
            <a:pPr lvl="1">
              <a:spcBef>
                <a:spcPct val="0"/>
              </a:spcBef>
              <a:spcAft>
                <a:spcPts val="1200"/>
              </a:spcAft>
            </a:pPr>
            <a:r>
              <a:rPr lang="en-US" altLang="en-US" dirty="0"/>
              <a:t> LW3-1037C, Fused Silica, Uncoated, 3</a:t>
            </a:r>
            <a:r>
              <a:rPr lang="en-US" altLang="en-US" baseline="30000" dirty="0"/>
              <a:t>o</a:t>
            </a:r>
            <a:r>
              <a:rPr lang="en-US" altLang="en-US" dirty="0"/>
              <a:t> wedge</a:t>
            </a:r>
          </a:p>
          <a:p>
            <a:pPr>
              <a:spcBef>
                <a:spcPct val="0"/>
              </a:spcBef>
              <a:spcAft>
                <a:spcPts val="1200"/>
              </a:spcAft>
            </a:pPr>
            <a:endParaRPr lang="en-US" altLang="en-US" b="1" u="sng" dirty="0"/>
          </a:p>
          <a:p>
            <a:pPr>
              <a:spcBef>
                <a:spcPct val="0"/>
              </a:spcBef>
              <a:spcAft>
                <a:spcPts val="1200"/>
              </a:spcAft>
            </a:pPr>
            <a:r>
              <a:rPr lang="en-US" altLang="en-US" b="1" u="sng" dirty="0"/>
              <a:t>Tools</a:t>
            </a:r>
          </a:p>
          <a:p>
            <a:pPr marL="285750" indent="-285750">
              <a:spcAft>
                <a:spcPts val="600"/>
              </a:spcAft>
              <a:buFont typeface="Arial" panose="020B0604020202020204" pitchFamily="34" charset="0"/>
              <a:buChar char="•"/>
            </a:pPr>
            <a:r>
              <a:rPr lang="en-US" altLang="en-US" dirty="0"/>
              <a:t>Laser protective eyewear for 638 nm</a:t>
            </a:r>
          </a:p>
          <a:p>
            <a:pPr marL="285750" indent="-285750">
              <a:spcAft>
                <a:spcPts val="600"/>
              </a:spcAft>
              <a:buFont typeface="Arial" panose="020B0604020202020204" pitchFamily="34" charset="0"/>
              <a:buChar char="•"/>
            </a:pPr>
            <a:r>
              <a:rPr lang="en-US" altLang="en-US" dirty="0"/>
              <a:t>Beam blocks</a:t>
            </a:r>
          </a:p>
          <a:p>
            <a:pPr marL="285750" indent="-285750">
              <a:spcAft>
                <a:spcPts val="600"/>
              </a:spcAft>
              <a:buFont typeface="Arial" panose="020B0604020202020204" pitchFamily="34" charset="0"/>
              <a:buChar char="•"/>
            </a:pPr>
            <a:r>
              <a:rPr lang="en-US" altLang="en-US" dirty="0"/>
              <a:t>Fluorescent cards</a:t>
            </a:r>
          </a:p>
        </p:txBody>
      </p:sp>
      <p:cxnSp>
        <p:nvCxnSpPr>
          <p:cNvPr id="22" name="Straight Connector 21"/>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3" name="Group 101"/>
          <p:cNvGrpSpPr>
            <a:grpSpLocks/>
          </p:cNvGrpSpPr>
          <p:nvPr/>
        </p:nvGrpSpPr>
        <p:grpSpPr bwMode="auto">
          <a:xfrm>
            <a:off x="5258694" y="4301401"/>
            <a:ext cx="2663825" cy="1571625"/>
            <a:chOff x="5445533" y="1265095"/>
            <a:chExt cx="2663417" cy="1571316"/>
          </a:xfrm>
        </p:grpSpPr>
        <p:sp>
          <p:nvSpPr>
            <p:cNvPr id="15" name="Manual Input 89"/>
            <p:cNvSpPr>
              <a:spLocks noChangeArrowheads="1"/>
            </p:cNvSpPr>
            <p:nvPr/>
          </p:nvSpPr>
          <p:spPr bwMode="auto">
            <a:xfrm rot="15211708" flipH="1">
              <a:off x="7649455" y="1481740"/>
              <a:ext cx="671380" cy="238089"/>
            </a:xfrm>
            <a:prstGeom prst="flowChartManualInput">
              <a:avLst/>
            </a:prstGeom>
            <a:gradFill rotWithShape="1">
              <a:gsLst>
                <a:gs pos="0">
                  <a:srgbClr val="F2F2F2"/>
                </a:gs>
                <a:gs pos="100000">
                  <a:srgbClr val="7F7F7F"/>
                </a:gs>
              </a:gsLst>
              <a:lin ang="5400000"/>
            </a:gradFill>
            <a:ln w="9525">
              <a:solidFill>
                <a:srgbClr val="7F7F7F"/>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grpSp>
          <p:nvGrpSpPr>
            <p:cNvPr id="16" name="Group 22"/>
            <p:cNvGrpSpPr>
              <a:grpSpLocks/>
            </p:cNvGrpSpPr>
            <p:nvPr/>
          </p:nvGrpSpPr>
          <p:grpSpPr bwMode="auto">
            <a:xfrm>
              <a:off x="5445533" y="1592451"/>
              <a:ext cx="2654433" cy="1243960"/>
              <a:chOff x="5000550" y="2398001"/>
              <a:chExt cx="2654433" cy="1243960"/>
            </a:xfrm>
          </p:grpSpPr>
          <p:cxnSp>
            <p:nvCxnSpPr>
              <p:cNvPr id="18" name="Straight Connector 17"/>
              <p:cNvCxnSpPr/>
              <p:nvPr/>
            </p:nvCxnSpPr>
            <p:spPr>
              <a:xfrm flipV="1">
                <a:off x="5000550" y="2407338"/>
                <a:ext cx="2434300" cy="1325"/>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6077643" y="2407338"/>
                <a:ext cx="1357207" cy="922854"/>
              </a:xfrm>
              <a:prstGeom prst="line">
                <a:avLst/>
              </a:prstGeom>
              <a:ln>
                <a:solidFill>
                  <a:srgbClr val="C70202"/>
                </a:solidFill>
                <a:prstDash val="solid"/>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5400000">
                <a:off x="6547052" y="2534029"/>
                <a:ext cx="1243960" cy="971903"/>
              </a:xfrm>
              <a:prstGeom prst="line">
                <a:avLst/>
              </a:prstGeom>
              <a:ln>
                <a:solidFill>
                  <a:srgbClr val="C70202"/>
                </a:solidFill>
                <a:prstDash val="dash"/>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cxnSp>
          <p:nvCxnSpPr>
            <p:cNvPr id="17" name="Straight Connector 16"/>
            <p:cNvCxnSpPr/>
            <p:nvPr/>
          </p:nvCxnSpPr>
          <p:spPr>
            <a:xfrm flipV="1">
              <a:off x="7794625" y="1603375"/>
              <a:ext cx="314325" cy="2"/>
            </a:xfrm>
            <a:prstGeom prst="line">
              <a:avLst/>
            </a:prstGeom>
            <a:ln>
              <a:solidFill>
                <a:srgbClr val="C70202"/>
              </a:solidFill>
              <a:prstDash val="sysDot"/>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5774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780" y="-523"/>
            <a:ext cx="7886700" cy="602152"/>
          </a:xfrm>
        </p:spPr>
        <p:txBody>
          <a:bodyPr>
            <a:normAutofit fontScale="90000"/>
          </a:bodyPr>
          <a:lstStyle/>
          <a:p>
            <a:r>
              <a:rPr lang="en-US" b="1" dirty="0">
                <a:solidFill>
                  <a:schemeClr val="accent5">
                    <a:lumMod val="75000"/>
                  </a:schemeClr>
                </a:solidFill>
              </a:rPr>
              <a:t>Wedge Window Alignment</a:t>
            </a:r>
            <a:endParaRPr lang="en-US" dirty="0"/>
          </a:p>
        </p:txBody>
      </p:sp>
      <p:sp>
        <p:nvSpPr>
          <p:cNvPr id="3" name="Slide Number Placeholder 2"/>
          <p:cNvSpPr>
            <a:spLocks noGrp="1"/>
          </p:cNvSpPr>
          <p:nvPr>
            <p:ph type="sldNum" sz="quarter" idx="12"/>
          </p:nvPr>
        </p:nvSpPr>
        <p:spPr/>
        <p:txBody>
          <a:bodyPr/>
          <a:lstStyle/>
          <a:p>
            <a:fld id="{9A8DD42E-82A4-4B2D-82BB-498554518294}" type="slidenum">
              <a:rPr lang="en-US" smtClean="0"/>
              <a:t>4</a:t>
            </a:fld>
            <a:endParaRPr lang="en-US"/>
          </a:p>
        </p:txBody>
      </p:sp>
      <p:cxnSp>
        <p:nvCxnSpPr>
          <p:cNvPr id="4" name="Straight Connector 3"/>
          <p:cNvCxnSpPr/>
          <p:nvPr/>
        </p:nvCxnSpPr>
        <p:spPr>
          <a:xfrm>
            <a:off x="233719" y="599073"/>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16" name="Group 115"/>
          <p:cNvGrpSpPr/>
          <p:nvPr/>
        </p:nvGrpSpPr>
        <p:grpSpPr>
          <a:xfrm>
            <a:off x="497955" y="584720"/>
            <a:ext cx="8437463" cy="2478076"/>
            <a:chOff x="525739" y="852878"/>
            <a:chExt cx="8437463" cy="2563276"/>
          </a:xfrm>
        </p:grpSpPr>
        <p:grpSp>
          <p:nvGrpSpPr>
            <p:cNvPr id="114" name="Group 113"/>
            <p:cNvGrpSpPr/>
            <p:nvPr/>
          </p:nvGrpSpPr>
          <p:grpSpPr>
            <a:xfrm>
              <a:off x="525739" y="852878"/>
              <a:ext cx="8437463" cy="2563276"/>
              <a:chOff x="525739" y="852878"/>
              <a:chExt cx="8437463" cy="2563276"/>
            </a:xfrm>
          </p:grpSpPr>
          <p:grpSp>
            <p:nvGrpSpPr>
              <p:cNvPr id="81" name="Group 80"/>
              <p:cNvGrpSpPr/>
              <p:nvPr/>
            </p:nvGrpSpPr>
            <p:grpSpPr>
              <a:xfrm>
                <a:off x="525739" y="902133"/>
                <a:ext cx="8437463" cy="2362887"/>
                <a:chOff x="150920" y="832159"/>
                <a:chExt cx="8152926" cy="2362887"/>
              </a:xfrm>
            </p:grpSpPr>
            <p:grpSp>
              <p:nvGrpSpPr>
                <p:cNvPr id="5" name="Group 4"/>
                <p:cNvGrpSpPr/>
                <p:nvPr/>
              </p:nvGrpSpPr>
              <p:grpSpPr>
                <a:xfrm>
                  <a:off x="1059514" y="932232"/>
                  <a:ext cx="7244332" cy="2262814"/>
                  <a:chOff x="1749622" y="587881"/>
                  <a:chExt cx="7244332" cy="2262814"/>
                </a:xfrm>
              </p:grpSpPr>
              <p:grpSp>
                <p:nvGrpSpPr>
                  <p:cNvPr id="6" name="Group 5"/>
                  <p:cNvGrpSpPr/>
                  <p:nvPr/>
                </p:nvGrpSpPr>
                <p:grpSpPr>
                  <a:xfrm>
                    <a:off x="1749622" y="587881"/>
                    <a:ext cx="7244332" cy="2262814"/>
                    <a:chOff x="1749622" y="587881"/>
                    <a:chExt cx="7244332" cy="2262814"/>
                  </a:xfrm>
                </p:grpSpPr>
                <p:grpSp>
                  <p:nvGrpSpPr>
                    <p:cNvPr id="11" name="Group 1"/>
                    <p:cNvGrpSpPr>
                      <a:grpSpLocks/>
                    </p:cNvGrpSpPr>
                    <p:nvPr/>
                  </p:nvGrpSpPr>
                  <p:grpSpPr bwMode="auto">
                    <a:xfrm>
                      <a:off x="1749622" y="587881"/>
                      <a:ext cx="6355853" cy="2262814"/>
                      <a:chOff x="1202907" y="3967488"/>
                      <a:chExt cx="6355853" cy="2262814"/>
                    </a:xfrm>
                  </p:grpSpPr>
                  <p:grpSp>
                    <p:nvGrpSpPr>
                      <p:cNvPr id="13" name="Group 21"/>
                      <p:cNvGrpSpPr>
                        <a:grpSpLocks/>
                      </p:cNvGrpSpPr>
                      <p:nvPr/>
                    </p:nvGrpSpPr>
                    <p:grpSpPr bwMode="auto">
                      <a:xfrm>
                        <a:off x="2027238" y="5219700"/>
                        <a:ext cx="152400" cy="609600"/>
                        <a:chOff x="1968" y="2448"/>
                        <a:chExt cx="192" cy="384"/>
                      </a:xfrm>
                    </p:grpSpPr>
                    <p:grpSp>
                      <p:nvGrpSpPr>
                        <p:cNvPr id="37" name="Group 22"/>
                        <p:cNvGrpSpPr>
                          <a:grpSpLocks/>
                        </p:cNvGrpSpPr>
                        <p:nvPr/>
                      </p:nvGrpSpPr>
                      <p:grpSpPr bwMode="auto">
                        <a:xfrm>
                          <a:off x="1968" y="2448"/>
                          <a:ext cx="192" cy="144"/>
                          <a:chOff x="1968" y="2448"/>
                          <a:chExt cx="192" cy="144"/>
                        </a:xfrm>
                      </p:grpSpPr>
                      <p:sp>
                        <p:nvSpPr>
                          <p:cNvPr id="41"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8" name="Group 25"/>
                        <p:cNvGrpSpPr>
                          <a:grpSpLocks/>
                        </p:cNvGrpSpPr>
                        <p:nvPr/>
                      </p:nvGrpSpPr>
                      <p:grpSpPr bwMode="auto">
                        <a:xfrm rot="10800000">
                          <a:off x="1968" y="2688"/>
                          <a:ext cx="192" cy="144"/>
                          <a:chOff x="1968" y="2448"/>
                          <a:chExt cx="192" cy="144"/>
                        </a:xfrm>
                      </p:grpSpPr>
                      <p:sp>
                        <p:nvSpPr>
                          <p:cNvPr id="39"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4" name="Group 21"/>
                      <p:cNvGrpSpPr>
                        <a:grpSpLocks/>
                      </p:cNvGrpSpPr>
                      <p:nvPr/>
                    </p:nvGrpSpPr>
                    <p:grpSpPr bwMode="auto">
                      <a:xfrm>
                        <a:off x="3998913" y="5213350"/>
                        <a:ext cx="152400" cy="609600"/>
                        <a:chOff x="1968" y="2448"/>
                        <a:chExt cx="192" cy="384"/>
                      </a:xfrm>
                    </p:grpSpPr>
                    <p:grpSp>
                      <p:nvGrpSpPr>
                        <p:cNvPr id="31" name="Group 22"/>
                        <p:cNvGrpSpPr>
                          <a:grpSpLocks/>
                        </p:cNvGrpSpPr>
                        <p:nvPr/>
                      </p:nvGrpSpPr>
                      <p:grpSpPr bwMode="auto">
                        <a:xfrm>
                          <a:off x="1968" y="2448"/>
                          <a:ext cx="192" cy="144"/>
                          <a:chOff x="1968" y="2448"/>
                          <a:chExt cx="192" cy="144"/>
                        </a:xfrm>
                      </p:grpSpPr>
                      <p:sp>
                        <p:nvSpPr>
                          <p:cNvPr id="35"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32" name="Group 25"/>
                        <p:cNvGrpSpPr>
                          <a:grpSpLocks/>
                        </p:cNvGrpSpPr>
                        <p:nvPr/>
                      </p:nvGrpSpPr>
                      <p:grpSpPr bwMode="auto">
                        <a:xfrm rot="10800000">
                          <a:off x="1968" y="2688"/>
                          <a:ext cx="192" cy="144"/>
                          <a:chOff x="1968" y="2448"/>
                          <a:chExt cx="192" cy="144"/>
                        </a:xfrm>
                      </p:grpSpPr>
                      <p:sp>
                        <p:nvSpPr>
                          <p:cNvPr id="33"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cxnSp>
                    <p:nvCxnSpPr>
                      <p:cNvPr id="15" name="Straight Connector 14"/>
                      <p:cNvCxnSpPr/>
                      <p:nvPr/>
                    </p:nvCxnSpPr>
                    <p:spPr>
                      <a:xfrm flipV="1">
                        <a:off x="1202907" y="5510520"/>
                        <a:ext cx="5839638" cy="20330"/>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16" name="Straight Connector 68"/>
                      <p:cNvCxnSpPr>
                        <a:cxnSpLocks noChangeShapeType="1"/>
                      </p:cNvCxnSpPr>
                      <p:nvPr/>
                    </p:nvCxnSpPr>
                    <p:spPr bwMode="auto">
                      <a:xfrm flipH="1" flipV="1">
                        <a:off x="2541576" y="3967488"/>
                        <a:ext cx="14081" cy="629338"/>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7" name="Freeform 16"/>
                      <p:cNvSpPr/>
                      <p:nvPr/>
                    </p:nvSpPr>
                    <p:spPr>
                      <a:xfrm rot="9696693" flipH="1">
                        <a:off x="2141734" y="4431215"/>
                        <a:ext cx="383942" cy="17817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18" name="Freeform 17"/>
                      <p:cNvSpPr/>
                      <p:nvPr/>
                    </p:nvSpPr>
                    <p:spPr>
                      <a:xfrm rot="5400000" flipH="1">
                        <a:off x="2343944" y="5591969"/>
                        <a:ext cx="309562" cy="70485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19" name="TextBox 72"/>
                      <p:cNvSpPr txBox="1">
                        <a:spLocks noChangeArrowheads="1"/>
                      </p:cNvSpPr>
                      <p:nvPr/>
                    </p:nvSpPr>
                    <p:spPr bwMode="auto">
                      <a:xfrm>
                        <a:off x="2740026" y="5953303"/>
                        <a:ext cx="8064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b="1" dirty="0"/>
                          <a:t>IRISES</a:t>
                        </a:r>
                      </a:p>
                    </p:txBody>
                  </p:sp>
                  <p:sp>
                    <p:nvSpPr>
                      <p:cNvPr id="20" name="Freeform 19"/>
                      <p:cNvSpPr/>
                      <p:nvPr/>
                    </p:nvSpPr>
                    <p:spPr>
                      <a:xfrm rot="5400000" flipH="1" flipV="1">
                        <a:off x="3534569" y="5657056"/>
                        <a:ext cx="357188" cy="549275"/>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22" name="TextBox 79"/>
                      <p:cNvSpPr txBox="1">
                        <a:spLocks noChangeArrowheads="1"/>
                      </p:cNvSpPr>
                      <p:nvPr/>
                    </p:nvSpPr>
                    <p:spPr bwMode="auto">
                      <a:xfrm>
                        <a:off x="2805709" y="4376687"/>
                        <a:ext cx="12271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1.4 mW, 638 nm</a:t>
                        </a:r>
                        <a:endParaRPr lang="en-US" altLang="en-US" sz="1200" dirty="0"/>
                      </a:p>
                    </p:txBody>
                  </p:sp>
                  <p:cxnSp>
                    <p:nvCxnSpPr>
                      <p:cNvPr id="27" name="Straight Connector 145"/>
                      <p:cNvCxnSpPr>
                        <a:cxnSpLocks noChangeShapeType="1"/>
                      </p:cNvCxnSpPr>
                      <p:nvPr/>
                    </p:nvCxnSpPr>
                    <p:spPr bwMode="auto">
                      <a:xfrm rot="5400000">
                        <a:off x="6893584" y="5518944"/>
                        <a:ext cx="377825" cy="1587"/>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28" name="Rectangle 27"/>
                      <p:cNvSpPr>
                        <a:spLocks noChangeArrowheads="1"/>
                      </p:cNvSpPr>
                      <p:nvPr/>
                    </p:nvSpPr>
                    <p:spPr bwMode="auto">
                      <a:xfrm>
                        <a:off x="2844456" y="4046487"/>
                        <a:ext cx="1052513" cy="354012"/>
                      </a:xfrm>
                      <a:prstGeom prst="rect">
                        <a:avLst/>
                      </a:prstGeom>
                      <a:solidFill>
                        <a:srgbClr val="FF0000"/>
                      </a:solidFill>
                      <a:ln w="9525">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r>
                          <a:rPr lang="en-US" sz="1400" b="1" cap="small" dirty="0">
                            <a:latin typeface="+mn-lt"/>
                            <a:ea typeface="+mn-ea"/>
                          </a:rPr>
                          <a:t>Diode Laser</a:t>
                        </a:r>
                      </a:p>
                    </p:txBody>
                  </p:sp>
                  <p:sp>
                    <p:nvSpPr>
                      <p:cNvPr id="30" name="Freeform 29"/>
                      <p:cNvSpPr/>
                      <p:nvPr/>
                    </p:nvSpPr>
                    <p:spPr>
                      <a:xfrm rot="5400000" flipH="1">
                        <a:off x="7114259" y="5705456"/>
                        <a:ext cx="500063" cy="388938"/>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sp>
                  <p:nvSpPr>
                    <p:cNvPr id="9" name="TextBox 146"/>
                    <p:cNvSpPr txBox="1">
                      <a:spLocks noChangeArrowheads="1"/>
                    </p:cNvSpPr>
                    <p:nvPr/>
                  </p:nvSpPr>
                  <p:spPr bwMode="auto">
                    <a:xfrm>
                      <a:off x="7512816" y="2564787"/>
                      <a:ext cx="14811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r" eaLnBrk="1" hangingPunct="1">
                        <a:spcBef>
                          <a:spcPct val="0"/>
                        </a:spcBef>
                        <a:buFontTx/>
                        <a:buNone/>
                      </a:pPr>
                      <a:r>
                        <a:rPr lang="en-US" altLang="en-US" sz="1200" b="1" dirty="0"/>
                        <a:t>BEAM BLOCK</a:t>
                      </a:r>
                      <a:endParaRPr lang="en-US" altLang="en-US" sz="1200" dirty="0"/>
                    </a:p>
                  </p:txBody>
                </p:sp>
              </p:grpSp>
              <p:sp>
                <p:nvSpPr>
                  <p:cNvPr id="7" name="TextBox 146"/>
                  <p:cNvSpPr txBox="1">
                    <a:spLocks noChangeArrowheads="1"/>
                  </p:cNvSpPr>
                  <p:nvPr/>
                </p:nvSpPr>
                <p:spPr bwMode="auto">
                  <a:xfrm>
                    <a:off x="2461300" y="1272280"/>
                    <a:ext cx="1040045" cy="281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grpSp>
            <p:sp>
              <p:nvSpPr>
                <p:cNvPr id="51" name="Rectangle 50"/>
                <p:cNvSpPr>
                  <a:spLocks noChangeArrowheads="1"/>
                </p:cNvSpPr>
                <p:nvPr/>
              </p:nvSpPr>
              <p:spPr bwMode="auto">
                <a:xfrm rot="2677687">
                  <a:off x="941141" y="900369"/>
                  <a:ext cx="157594" cy="488922"/>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52" name="TextBox 80"/>
                <p:cNvSpPr txBox="1">
                  <a:spLocks noChangeArrowheads="1"/>
                </p:cNvSpPr>
                <p:nvPr/>
              </p:nvSpPr>
              <p:spPr bwMode="auto">
                <a:xfrm>
                  <a:off x="150920" y="832159"/>
                  <a:ext cx="850497" cy="22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MIRROR 1</a:t>
                  </a:r>
                  <a:endParaRPr lang="en-US" altLang="en-US" sz="1200" dirty="0"/>
                </a:p>
              </p:txBody>
            </p:sp>
            <p:sp>
              <p:nvSpPr>
                <p:cNvPr id="54" name="Rectangle 53"/>
                <p:cNvSpPr>
                  <a:spLocks noChangeArrowheads="1"/>
                </p:cNvSpPr>
                <p:nvPr/>
              </p:nvSpPr>
              <p:spPr bwMode="auto">
                <a:xfrm rot="2677687">
                  <a:off x="722167" y="2495075"/>
                  <a:ext cx="504080" cy="171918"/>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55" name="TextBox 80"/>
                <p:cNvSpPr txBox="1">
                  <a:spLocks noChangeArrowheads="1"/>
                </p:cNvSpPr>
                <p:nvPr/>
              </p:nvSpPr>
              <p:spPr bwMode="auto">
                <a:xfrm>
                  <a:off x="317184" y="2909138"/>
                  <a:ext cx="8504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MIRROR 2</a:t>
                  </a:r>
                  <a:endParaRPr lang="en-US" altLang="en-US" sz="1200" dirty="0"/>
                </a:p>
              </p:txBody>
            </p:sp>
            <p:sp>
              <p:nvSpPr>
                <p:cNvPr id="56" name="Freeform 55"/>
                <p:cNvSpPr/>
                <p:nvPr/>
              </p:nvSpPr>
              <p:spPr bwMode="auto">
                <a:xfrm rot="5400000" flipH="1" flipV="1">
                  <a:off x="568098" y="2684030"/>
                  <a:ext cx="332701" cy="193918"/>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59" name="Freeform 58"/>
                <p:cNvSpPr/>
                <p:nvPr/>
              </p:nvSpPr>
              <p:spPr bwMode="auto">
                <a:xfrm rot="5400000" flipV="1">
                  <a:off x="579667" y="938760"/>
                  <a:ext cx="72776" cy="36587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cxnSp>
              <p:nvCxnSpPr>
                <p:cNvPr id="63" name="Straight Connector 62"/>
                <p:cNvCxnSpPr/>
                <p:nvPr/>
              </p:nvCxnSpPr>
              <p:spPr bwMode="auto">
                <a:xfrm flipH="1">
                  <a:off x="1046760" y="1228269"/>
                  <a:ext cx="1629651" cy="24558"/>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bwMode="auto">
                <a:xfrm flipH="1">
                  <a:off x="1059514" y="1267213"/>
                  <a:ext cx="2" cy="1242668"/>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grpSp>
            <p:nvGrpSpPr>
              <p:cNvPr id="113" name="Group 112"/>
              <p:cNvGrpSpPr/>
              <p:nvPr/>
            </p:nvGrpSpPr>
            <p:grpSpPr>
              <a:xfrm>
                <a:off x="5617428" y="2857669"/>
                <a:ext cx="901223" cy="558485"/>
                <a:chOff x="4800320" y="2812318"/>
                <a:chExt cx="901223" cy="558485"/>
              </a:xfrm>
            </p:grpSpPr>
            <p:sp>
              <p:nvSpPr>
                <p:cNvPr id="83" name="TextBox 80"/>
                <p:cNvSpPr txBox="1">
                  <a:spLocks noChangeArrowheads="1"/>
                </p:cNvSpPr>
                <p:nvPr/>
              </p:nvSpPr>
              <p:spPr bwMode="auto">
                <a:xfrm>
                  <a:off x="4800320" y="2909138"/>
                  <a:ext cx="8903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WEDGE WINDOW</a:t>
                  </a:r>
                  <a:endParaRPr lang="en-US" altLang="en-US" sz="1200" dirty="0"/>
                </a:p>
              </p:txBody>
            </p:sp>
            <p:sp>
              <p:nvSpPr>
                <p:cNvPr id="84" name="Freeform 83"/>
                <p:cNvSpPr/>
                <p:nvPr/>
              </p:nvSpPr>
              <p:spPr bwMode="auto">
                <a:xfrm rot="5400000" flipH="1" flipV="1">
                  <a:off x="5417305" y="2790198"/>
                  <a:ext cx="262117" cy="306358"/>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grpSp>
            <p:nvGrpSpPr>
              <p:cNvPr id="112" name="Group 111"/>
              <p:cNvGrpSpPr/>
              <p:nvPr/>
            </p:nvGrpSpPr>
            <p:grpSpPr>
              <a:xfrm>
                <a:off x="5933075" y="852878"/>
                <a:ext cx="1810113" cy="1998085"/>
                <a:chOff x="4965116" y="786881"/>
                <a:chExt cx="1810113" cy="1998085"/>
              </a:xfrm>
            </p:grpSpPr>
            <p:sp>
              <p:nvSpPr>
                <p:cNvPr id="82" name="Trapezoid 81"/>
                <p:cNvSpPr/>
                <p:nvPr/>
              </p:nvSpPr>
              <p:spPr>
                <a:xfrm rot="1462270">
                  <a:off x="5664936" y="2142066"/>
                  <a:ext cx="152649" cy="642900"/>
                </a:xfrm>
                <a:prstGeom prst="trapezoid">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roup 89"/>
                <p:cNvGrpSpPr/>
                <p:nvPr/>
              </p:nvGrpSpPr>
              <p:grpSpPr>
                <a:xfrm>
                  <a:off x="5403837" y="786881"/>
                  <a:ext cx="719138" cy="730250"/>
                  <a:chOff x="5402458" y="793109"/>
                  <a:chExt cx="719138" cy="730250"/>
                </a:xfrm>
              </p:grpSpPr>
              <p:sp>
                <p:nvSpPr>
                  <p:cNvPr id="85" name="Oval 84"/>
                  <p:cNvSpPr>
                    <a:spLocks noChangeArrowheads="1"/>
                  </p:cNvSpPr>
                  <p:nvPr/>
                </p:nvSpPr>
                <p:spPr bwMode="auto">
                  <a:xfrm>
                    <a:off x="5533667" y="911420"/>
                    <a:ext cx="531813" cy="544501"/>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86" name="Oval 85"/>
                  <p:cNvSpPr>
                    <a:spLocks noChangeArrowheads="1"/>
                  </p:cNvSpPr>
                  <p:nvPr/>
                </p:nvSpPr>
                <p:spPr bwMode="auto">
                  <a:xfrm>
                    <a:off x="5609867" y="995330"/>
                    <a:ext cx="379413" cy="389153"/>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cxnSp>
                <p:nvCxnSpPr>
                  <p:cNvPr id="87" name="Straight Connector 128"/>
                  <p:cNvCxnSpPr>
                    <a:cxnSpLocks noChangeShapeType="1"/>
                  </p:cNvCxnSpPr>
                  <p:nvPr/>
                </p:nvCxnSpPr>
                <p:spPr bwMode="auto">
                  <a:xfrm flipH="1">
                    <a:off x="5799761" y="793109"/>
                    <a:ext cx="1587" cy="730250"/>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88" name="Straight Connector 129"/>
                  <p:cNvCxnSpPr>
                    <a:cxnSpLocks noChangeShapeType="1"/>
                  </p:cNvCxnSpPr>
                  <p:nvPr/>
                </p:nvCxnSpPr>
                <p:spPr bwMode="auto">
                  <a:xfrm>
                    <a:off x="5402458" y="1183279"/>
                    <a:ext cx="719138" cy="0"/>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89" name="Oval 88"/>
                  <p:cNvSpPr>
                    <a:spLocks noChangeArrowheads="1"/>
                  </p:cNvSpPr>
                  <p:nvPr/>
                </p:nvSpPr>
                <p:spPr bwMode="auto">
                  <a:xfrm>
                    <a:off x="5684921" y="1078646"/>
                    <a:ext cx="225786" cy="219098"/>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grpSp>
            <p:grpSp>
              <p:nvGrpSpPr>
                <p:cNvPr id="91" name="Group 90"/>
                <p:cNvGrpSpPr/>
                <p:nvPr/>
              </p:nvGrpSpPr>
              <p:grpSpPr>
                <a:xfrm>
                  <a:off x="5414279" y="1223159"/>
                  <a:ext cx="719138" cy="730250"/>
                  <a:chOff x="5389595" y="793837"/>
                  <a:chExt cx="719138" cy="730250"/>
                </a:xfrm>
              </p:grpSpPr>
              <p:sp>
                <p:nvSpPr>
                  <p:cNvPr id="92" name="Oval 91"/>
                  <p:cNvSpPr>
                    <a:spLocks noChangeArrowheads="1"/>
                  </p:cNvSpPr>
                  <p:nvPr/>
                </p:nvSpPr>
                <p:spPr bwMode="auto">
                  <a:xfrm>
                    <a:off x="5519044" y="929716"/>
                    <a:ext cx="531813" cy="550863"/>
                  </a:xfrm>
                  <a:prstGeom prst="ellipse">
                    <a:avLst/>
                  </a:prstGeom>
                  <a:noFill/>
                  <a:ln w="25400">
                    <a:solidFill>
                      <a:schemeClr val="bg1">
                        <a:lumMod val="65000"/>
                      </a:schemeClr>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93" name="Oval 92"/>
                  <p:cNvSpPr>
                    <a:spLocks noChangeArrowheads="1"/>
                  </p:cNvSpPr>
                  <p:nvPr/>
                </p:nvSpPr>
                <p:spPr bwMode="auto">
                  <a:xfrm>
                    <a:off x="5597004" y="1009014"/>
                    <a:ext cx="379413" cy="393700"/>
                  </a:xfrm>
                  <a:prstGeom prst="ellipse">
                    <a:avLst/>
                  </a:prstGeom>
                  <a:noFill/>
                  <a:ln w="25400">
                    <a:solidFill>
                      <a:schemeClr val="bg1">
                        <a:lumMod val="65000"/>
                      </a:schemeClr>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cxnSp>
                <p:nvCxnSpPr>
                  <p:cNvPr id="94" name="Straight Connector 128"/>
                  <p:cNvCxnSpPr>
                    <a:cxnSpLocks noChangeShapeType="1"/>
                  </p:cNvCxnSpPr>
                  <p:nvPr/>
                </p:nvCxnSpPr>
                <p:spPr bwMode="auto">
                  <a:xfrm rot="5400000">
                    <a:off x="5411937" y="1158168"/>
                    <a:ext cx="730250" cy="1587"/>
                  </a:xfrm>
                  <a:prstGeom prst="line">
                    <a:avLst/>
                  </a:prstGeom>
                  <a:noFill/>
                  <a:ln w="25400">
                    <a:solidFill>
                      <a:schemeClr val="bg1">
                        <a:lumMod val="65000"/>
                      </a:schemeClr>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95" name="Straight Connector 129"/>
                  <p:cNvCxnSpPr>
                    <a:cxnSpLocks noChangeShapeType="1"/>
                  </p:cNvCxnSpPr>
                  <p:nvPr/>
                </p:nvCxnSpPr>
                <p:spPr bwMode="auto">
                  <a:xfrm>
                    <a:off x="5389595" y="1201511"/>
                    <a:ext cx="719138" cy="0"/>
                  </a:xfrm>
                  <a:prstGeom prst="line">
                    <a:avLst/>
                  </a:prstGeom>
                  <a:noFill/>
                  <a:ln w="25400">
                    <a:solidFill>
                      <a:schemeClr val="bg1">
                        <a:lumMod val="65000"/>
                      </a:schemeClr>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96" name="Oval 95"/>
                  <p:cNvSpPr>
                    <a:spLocks noChangeArrowheads="1"/>
                  </p:cNvSpPr>
                  <p:nvPr/>
                </p:nvSpPr>
                <p:spPr bwMode="auto">
                  <a:xfrm>
                    <a:off x="5672058" y="1094319"/>
                    <a:ext cx="225786" cy="221658"/>
                  </a:xfrm>
                  <a:prstGeom prst="ellipse">
                    <a:avLst/>
                  </a:prstGeom>
                  <a:noFill/>
                  <a:ln w="25400">
                    <a:solidFill>
                      <a:schemeClr val="bg1">
                        <a:lumMod val="65000"/>
                      </a:schemeClr>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grpSp>
            <p:cxnSp>
              <p:nvCxnSpPr>
                <p:cNvPr id="97" name="Straight Arrow Connector 96"/>
                <p:cNvCxnSpPr/>
                <p:nvPr/>
              </p:nvCxnSpPr>
              <p:spPr>
                <a:xfrm flipH="1" flipV="1">
                  <a:off x="5192366" y="1636224"/>
                  <a:ext cx="479137" cy="81363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82" idx="3"/>
                  <a:endCxn id="96" idx="0"/>
                </p:cNvCxnSpPr>
                <p:nvPr/>
              </p:nvCxnSpPr>
              <p:spPr>
                <a:xfrm flipV="1">
                  <a:off x="5793403" y="1523641"/>
                  <a:ext cx="16232" cy="96430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45"/>
                <p:cNvCxnSpPr>
                  <a:cxnSpLocks noChangeShapeType="1"/>
                </p:cNvCxnSpPr>
                <p:nvPr/>
              </p:nvCxnSpPr>
              <p:spPr bwMode="auto">
                <a:xfrm flipH="1">
                  <a:off x="4965116" y="1497558"/>
                  <a:ext cx="383742" cy="168852"/>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110" name="TextBox 77"/>
                <p:cNvSpPr txBox="1">
                  <a:spLocks noChangeArrowheads="1"/>
                </p:cNvSpPr>
                <p:nvPr/>
              </p:nvSpPr>
              <p:spPr bwMode="auto">
                <a:xfrm>
                  <a:off x="6058045" y="1174872"/>
                  <a:ext cx="7171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TARGET</a:t>
                  </a:r>
                  <a:endParaRPr lang="en-US" altLang="en-US" sz="1200" dirty="0"/>
                </a:p>
              </p:txBody>
            </p:sp>
          </p:grpSp>
        </p:grpSp>
        <p:sp>
          <p:nvSpPr>
            <p:cNvPr id="111" name="TextBox 146"/>
            <p:cNvSpPr txBox="1">
              <a:spLocks noChangeArrowheads="1"/>
            </p:cNvSpPr>
            <p:nvPr/>
          </p:nvSpPr>
          <p:spPr bwMode="auto">
            <a:xfrm>
              <a:off x="5219100" y="1332787"/>
              <a:ext cx="1040045" cy="281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grpSp>
      <p:sp>
        <p:nvSpPr>
          <p:cNvPr id="115" name="Rectangle 114"/>
          <p:cNvSpPr/>
          <p:nvPr/>
        </p:nvSpPr>
        <p:spPr>
          <a:xfrm>
            <a:off x="7619527" y="570292"/>
            <a:ext cx="1267142" cy="276999"/>
          </a:xfrm>
          <a:prstGeom prst="rect">
            <a:avLst/>
          </a:prstGeom>
        </p:spPr>
        <p:txBody>
          <a:bodyPr wrap="none">
            <a:spAutoFit/>
          </a:bodyPr>
          <a:lstStyle/>
          <a:p>
            <a:pPr>
              <a:spcBef>
                <a:spcPct val="0"/>
              </a:spcBef>
              <a:spcAft>
                <a:spcPts val="1200"/>
              </a:spcAft>
            </a:pPr>
            <a:r>
              <a:rPr lang="en-US" altLang="en-US" sz="1200" b="1" u="sng" dirty="0"/>
              <a:t>OPTICAL LAYOUT</a:t>
            </a:r>
          </a:p>
        </p:txBody>
      </p:sp>
      <p:sp>
        <p:nvSpPr>
          <p:cNvPr id="118" name="Rectangle 20"/>
          <p:cNvSpPr>
            <a:spLocks noChangeArrowheads="1"/>
          </p:cNvSpPr>
          <p:nvPr/>
        </p:nvSpPr>
        <p:spPr bwMode="auto">
          <a:xfrm>
            <a:off x="107576" y="2881249"/>
            <a:ext cx="9036424"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400"/>
              </a:spcAft>
              <a:buNone/>
            </a:pPr>
            <a:r>
              <a:rPr lang="en-US" altLang="en-US" sz="1400" b="1" u="sng" dirty="0"/>
              <a:t>TASKS:</a:t>
            </a:r>
          </a:p>
          <a:p>
            <a:pPr marL="635000" indent="-342900">
              <a:spcBef>
                <a:spcPct val="0"/>
              </a:spcBef>
              <a:spcAft>
                <a:spcPts val="400"/>
              </a:spcAft>
              <a:buFontTx/>
              <a:buAutoNum type="arabicPeriod"/>
            </a:pPr>
            <a:r>
              <a:rPr lang="en-US" altLang="en-US" sz="1200" dirty="0"/>
              <a:t>Start with the laser beam blocked or disabled. Put on the appropriate laser protection goggles.</a:t>
            </a:r>
          </a:p>
          <a:p>
            <a:pPr marL="635000" indent="-342900">
              <a:spcBef>
                <a:spcPct val="0"/>
              </a:spcBef>
              <a:spcAft>
                <a:spcPts val="400"/>
              </a:spcAft>
              <a:buFontTx/>
              <a:buAutoNum type="arabicPeriod"/>
            </a:pPr>
            <a:r>
              <a:rPr lang="en-US" altLang="en-US" sz="1200" dirty="0"/>
              <a:t>Position a beam block between the mirrors. Enable the red laser and open the beam.</a:t>
            </a:r>
          </a:p>
          <a:p>
            <a:pPr marL="635000" indent="-342900">
              <a:spcBef>
                <a:spcPct val="0"/>
              </a:spcBef>
              <a:spcAft>
                <a:spcPts val="400"/>
              </a:spcAft>
              <a:buFontTx/>
              <a:buAutoNum type="arabicPeriod"/>
            </a:pPr>
            <a:r>
              <a:rPr lang="en-US" altLang="en-US" sz="1200" dirty="0"/>
              <a:t>Align so the beam is on the first mirror. Block the beam at the laser aperture. </a:t>
            </a:r>
          </a:p>
          <a:p>
            <a:pPr marL="635000" indent="-342900">
              <a:spcBef>
                <a:spcPct val="0"/>
              </a:spcBef>
              <a:spcAft>
                <a:spcPts val="400"/>
              </a:spcAft>
              <a:buFontTx/>
              <a:buAutoNum type="arabicPeriod"/>
            </a:pPr>
            <a:r>
              <a:rPr lang="en-US" altLang="en-US" sz="1200" dirty="0"/>
              <a:t>Place a beam block between the second mirror and the first iris. Open the beam. Align so the beam is on the second mirror. </a:t>
            </a:r>
          </a:p>
          <a:p>
            <a:pPr marL="635000" indent="-342900">
              <a:spcBef>
                <a:spcPct val="0"/>
              </a:spcBef>
              <a:spcAft>
                <a:spcPts val="400"/>
              </a:spcAft>
              <a:buFontTx/>
              <a:buAutoNum type="arabicPeriod"/>
            </a:pPr>
            <a:r>
              <a:rPr lang="en-US" altLang="en-US" sz="1200" dirty="0"/>
              <a:t>Block the beam. Close both irises and place beam block behind the first one. Open the beam.</a:t>
            </a:r>
          </a:p>
          <a:p>
            <a:pPr marL="635000" indent="-342900">
              <a:spcBef>
                <a:spcPct val="0"/>
              </a:spcBef>
              <a:spcAft>
                <a:spcPts val="400"/>
              </a:spcAft>
              <a:buFontTx/>
              <a:buAutoNum type="arabicPeriod"/>
            </a:pPr>
            <a:r>
              <a:rPr lang="en-US" altLang="en-US" sz="1200" dirty="0"/>
              <a:t>Align such as the beam is centered on the closed first iris. Block the beam. Move the beam block behind the second iris.</a:t>
            </a:r>
          </a:p>
          <a:p>
            <a:pPr marL="635000" indent="-342900">
              <a:spcBef>
                <a:spcPct val="0"/>
              </a:spcBef>
              <a:spcAft>
                <a:spcPts val="400"/>
              </a:spcAft>
              <a:buFontTx/>
              <a:buAutoNum type="arabicPeriod"/>
            </a:pPr>
            <a:r>
              <a:rPr lang="en-US" altLang="en-US" sz="1200" dirty="0"/>
              <a:t>Unblock the laser and open the first iris to allow the beam to reach the second iris. Align so the beam is centered on the second iris. </a:t>
            </a:r>
          </a:p>
          <a:p>
            <a:pPr marL="635000" indent="-342900">
              <a:spcBef>
                <a:spcPct val="0"/>
              </a:spcBef>
              <a:spcAft>
                <a:spcPts val="400"/>
              </a:spcAft>
              <a:buFontTx/>
              <a:buAutoNum type="arabicPeriod"/>
            </a:pPr>
            <a:r>
              <a:rPr lang="en-US" altLang="en-US" sz="1200" dirty="0"/>
              <a:t>Iterate these steps until both irises are correct. Verify for stray reflections with a card. </a:t>
            </a:r>
          </a:p>
          <a:p>
            <a:pPr marL="635000" indent="-342900">
              <a:spcBef>
                <a:spcPct val="0"/>
              </a:spcBef>
              <a:spcAft>
                <a:spcPts val="400"/>
              </a:spcAft>
              <a:buFontTx/>
              <a:buAutoNum type="arabicPeriod"/>
            </a:pPr>
            <a:r>
              <a:rPr lang="en-US" altLang="en-US" sz="1200" dirty="0"/>
              <a:t>Block the laser. Move the beam blocks around the wedge window. Open the second iris. </a:t>
            </a:r>
          </a:p>
          <a:p>
            <a:pPr marL="635000" indent="-342900">
              <a:spcBef>
                <a:spcPct val="0"/>
              </a:spcBef>
              <a:spcAft>
                <a:spcPts val="400"/>
              </a:spcAft>
              <a:buFontTx/>
              <a:buAutoNum type="arabicPeriod"/>
            </a:pPr>
            <a:r>
              <a:rPr lang="en-US" altLang="en-US" sz="1200" dirty="0"/>
              <a:t>Holding a card at front of the window, adjust the window mount so the beam enters the window aperture.</a:t>
            </a:r>
          </a:p>
          <a:p>
            <a:pPr marL="635000" indent="-342900">
              <a:spcBef>
                <a:spcPct val="0"/>
              </a:spcBef>
              <a:spcAft>
                <a:spcPts val="400"/>
              </a:spcAft>
              <a:buFontTx/>
              <a:buAutoNum type="arabicPeriod"/>
            </a:pPr>
            <a:r>
              <a:rPr lang="en-US" altLang="en-US" sz="1200" dirty="0"/>
              <a:t>Check for front and back surface reflections. Be careful, if positioned incorrectly, the reflected beam may be upward.</a:t>
            </a:r>
          </a:p>
          <a:p>
            <a:pPr marL="635000" indent="-342900">
              <a:spcBef>
                <a:spcPct val="0"/>
              </a:spcBef>
              <a:spcAft>
                <a:spcPts val="400"/>
              </a:spcAft>
              <a:buFontTx/>
              <a:buAutoNum type="arabicPeriod"/>
            </a:pPr>
            <a:r>
              <a:rPr lang="en-US" altLang="en-US" sz="1200" dirty="0"/>
              <a:t>Rotate the window inside the mount or the mount itself so that reflected beam would be on the target or horizontal. Find the back reflection beam and either align it on target or block it. Use gloves if touching the optics.</a:t>
            </a:r>
          </a:p>
          <a:p>
            <a:pPr marL="635000" indent="-342900">
              <a:spcBef>
                <a:spcPct val="0"/>
              </a:spcBef>
              <a:spcAft>
                <a:spcPts val="400"/>
              </a:spcAft>
              <a:buFontTx/>
              <a:buAutoNum type="arabicPeriod"/>
            </a:pPr>
            <a:r>
              <a:rPr lang="en-US" altLang="en-US" sz="1200" dirty="0"/>
              <a:t>Perform two point unique alignment, to verify that the beam is in horizontal plane. Iterate these steps until both targets are correct.</a:t>
            </a:r>
          </a:p>
          <a:p>
            <a:pPr marL="635000" indent="-342900">
              <a:spcBef>
                <a:spcPct val="0"/>
              </a:spcBef>
              <a:spcAft>
                <a:spcPts val="400"/>
              </a:spcAft>
              <a:buFontTx/>
              <a:buAutoNum type="arabicPeriod"/>
            </a:pPr>
            <a:r>
              <a:rPr lang="en-US" altLang="en-US" sz="1200" dirty="0"/>
              <a:t>Verify that all beams, including reflected or stray beams, are contained.</a:t>
            </a:r>
          </a:p>
          <a:p>
            <a:pPr marL="635000" indent="-342900">
              <a:spcBef>
                <a:spcPct val="0"/>
              </a:spcBef>
              <a:spcAft>
                <a:spcPts val="400"/>
              </a:spcAft>
              <a:buFontTx/>
              <a:buAutoNum type="arabicPeriod"/>
            </a:pPr>
            <a:r>
              <a:rPr lang="en-US" altLang="en-US" sz="1200" dirty="0"/>
              <a:t>Block the laser or turn it off.</a:t>
            </a:r>
          </a:p>
        </p:txBody>
      </p:sp>
    </p:spTree>
    <p:extLst>
      <p:ext uri="{BB962C8B-B14F-4D97-AF65-F5344CB8AC3E}">
        <p14:creationId xmlns:p14="http://schemas.microsoft.com/office/powerpoint/2010/main" val="1271935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796014" cy="926123"/>
          </a:xfrm>
        </p:spPr>
        <p:txBody>
          <a:bodyPr>
            <a:noAutofit/>
          </a:bodyPr>
          <a:lstStyle/>
          <a:p>
            <a:r>
              <a:rPr lang="en-US" sz="3600" b="1" dirty="0">
                <a:solidFill>
                  <a:schemeClr val="accent5">
                    <a:lumMod val="75000"/>
                  </a:schemeClr>
                </a:solidFill>
              </a:rPr>
              <a:t>Exercise # 2. Beam Splitter Cube Alignment</a:t>
            </a:r>
          </a:p>
        </p:txBody>
      </p:sp>
      <p:sp>
        <p:nvSpPr>
          <p:cNvPr id="67" name="Slide Number Placeholder 66"/>
          <p:cNvSpPr>
            <a:spLocks noGrp="1"/>
          </p:cNvSpPr>
          <p:nvPr>
            <p:ph type="sldNum" sz="quarter" idx="12"/>
          </p:nvPr>
        </p:nvSpPr>
        <p:spPr/>
        <p:txBody>
          <a:bodyPr/>
          <a:lstStyle/>
          <a:p>
            <a:fld id="{9A8DD42E-82A4-4B2D-82BB-498554518294}" type="slidenum">
              <a:rPr lang="en-US" smtClean="0"/>
              <a:t>5</a:t>
            </a:fld>
            <a:endParaRPr lang="en-US"/>
          </a:p>
        </p:txBody>
      </p:sp>
      <p:sp>
        <p:nvSpPr>
          <p:cNvPr id="14" name="Rectangle 20"/>
          <p:cNvSpPr>
            <a:spLocks noChangeArrowheads="1"/>
          </p:cNvSpPr>
          <p:nvPr/>
        </p:nvSpPr>
        <p:spPr bwMode="auto">
          <a:xfrm>
            <a:off x="0" y="765647"/>
            <a:ext cx="8266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Aft>
                <a:spcPts val="1200"/>
              </a:spcAft>
              <a:buNone/>
              <a:tabLst>
                <a:tab pos="1997075" algn="l"/>
              </a:tabLst>
              <a:defRPr/>
            </a:pPr>
            <a:r>
              <a:rPr lang="en-US" sz="1800" dirty="0">
                <a:solidFill>
                  <a:schemeClr val="accent5">
                    <a:lumMod val="75000"/>
                  </a:schemeClr>
                </a:solidFill>
                <a:latin typeface="+mn-lt"/>
                <a:ea typeface="+mn-ea"/>
              </a:rPr>
              <a:t>Maximum time for completing the exercise: </a:t>
            </a:r>
            <a:r>
              <a:rPr lang="en-US" sz="1800" dirty="0">
                <a:solidFill>
                  <a:schemeClr val="accent5">
                    <a:lumMod val="75000"/>
                  </a:schemeClr>
                </a:solidFill>
                <a:latin typeface="+mn-lt"/>
                <a:ea typeface="ＭＳ Ｐゴシック" charset="-128"/>
              </a:rPr>
              <a:t>15 minutes</a:t>
            </a:r>
            <a:endParaRPr lang="en-US" altLang="en-US" sz="1800" dirty="0">
              <a:solidFill>
                <a:schemeClr val="accent5">
                  <a:lumMod val="75000"/>
                </a:schemeClr>
              </a:solidFill>
              <a:latin typeface="+mn-lt"/>
              <a:ea typeface="+mn-ea"/>
            </a:endParaRPr>
          </a:p>
        </p:txBody>
      </p:sp>
      <p:sp>
        <p:nvSpPr>
          <p:cNvPr id="68" name="Rectangle 67"/>
          <p:cNvSpPr/>
          <p:nvPr/>
        </p:nvSpPr>
        <p:spPr>
          <a:xfrm>
            <a:off x="265232" y="1278321"/>
            <a:ext cx="8459760" cy="5216813"/>
          </a:xfrm>
          <a:prstGeom prst="rect">
            <a:avLst/>
          </a:prstGeom>
          <a:ln w="19050">
            <a:noFill/>
          </a:ln>
        </p:spPr>
        <p:style>
          <a:lnRef idx="1">
            <a:schemeClr val="accent1"/>
          </a:lnRef>
          <a:fillRef idx="0">
            <a:schemeClr val="accent1"/>
          </a:fillRef>
          <a:effectRef idx="0">
            <a:schemeClr val="accent1"/>
          </a:effectRef>
          <a:fontRef idx="minor">
            <a:schemeClr val="tx1"/>
          </a:fontRef>
        </p:style>
        <p:txBody>
          <a:bodyPr wrap="square">
            <a:spAutoFit/>
          </a:bodyPr>
          <a:lstStyle/>
          <a:p>
            <a:pPr>
              <a:spcBef>
                <a:spcPct val="0"/>
              </a:spcBef>
              <a:spcAft>
                <a:spcPts val="1200"/>
              </a:spcAft>
              <a:buNone/>
            </a:pPr>
            <a:r>
              <a:rPr lang="en-US" altLang="en-US" b="1" u="sng" dirty="0"/>
              <a:t>Overview</a:t>
            </a:r>
          </a:p>
          <a:p>
            <a:pPr>
              <a:spcBef>
                <a:spcPct val="0"/>
              </a:spcBef>
              <a:spcAft>
                <a:spcPts val="1200"/>
              </a:spcAft>
            </a:pPr>
            <a:r>
              <a:rPr lang="en-US" altLang="en-US" dirty="0"/>
              <a:t>The alignment and setup of polarizing beam splitter cube presents high potential for laser eye injury and/or uncontrolled reflections as a polarizing cube consist of two polarized orthogonal reflections coming from two orthogonal surfaces. Typical mounting of such optic allows for 360</a:t>
            </a:r>
            <a:r>
              <a:rPr lang="en-US" altLang="en-US" baseline="30000" dirty="0"/>
              <a:t>o</a:t>
            </a:r>
            <a:r>
              <a:rPr lang="en-US" altLang="en-US" dirty="0"/>
              <a:t> rotation, therefore presenting high risks for upward and unsafe beam path. </a:t>
            </a:r>
          </a:p>
          <a:p>
            <a:pPr>
              <a:spcBef>
                <a:spcPct val="0"/>
              </a:spcBef>
              <a:spcAft>
                <a:spcPts val="600"/>
              </a:spcAft>
            </a:pPr>
            <a:r>
              <a:rPr lang="en-US" altLang="en-US" dirty="0"/>
              <a:t>The students will learn how to safely mount a </a:t>
            </a:r>
            <a:r>
              <a:rPr lang="en-US" altLang="en-US" b="1" dirty="0"/>
              <a:t>non-polarizing </a:t>
            </a:r>
            <a:r>
              <a:rPr lang="en-US" altLang="en-US" dirty="0"/>
              <a:t>beam splitter cube:</a:t>
            </a:r>
          </a:p>
          <a:p>
            <a:pPr>
              <a:spcBef>
                <a:spcPts val="600"/>
              </a:spcBef>
            </a:pPr>
            <a:r>
              <a:rPr lang="en-US" sz="1600" dirty="0"/>
              <a:t>Broadband Dielectric Non-Polarizing Beamsplitter Cube</a:t>
            </a:r>
          </a:p>
          <a:p>
            <a:pPr marL="742950" lvl="1" indent="-285750">
              <a:buFont typeface="Arial" panose="020B0604020202020204" pitchFamily="34" charset="0"/>
              <a:buChar char="•"/>
            </a:pPr>
            <a:r>
              <a:rPr lang="en-US" sz="1600" dirty="0"/>
              <a:t>12.7 mm, 400-700 nm</a:t>
            </a:r>
          </a:p>
          <a:p>
            <a:pPr marL="742950" lvl="1" indent="-285750">
              <a:buFont typeface="Arial" panose="020B0604020202020204" pitchFamily="34" charset="0"/>
              <a:buChar char="•"/>
            </a:pPr>
            <a:r>
              <a:rPr lang="en-US" sz="1600" dirty="0"/>
              <a:t>50/50 splitting for un-polarized light</a:t>
            </a:r>
          </a:p>
          <a:p>
            <a:pPr marL="742950" lvl="1" indent="-285750">
              <a:buFont typeface="Arial" panose="020B0604020202020204" pitchFamily="34" charset="0"/>
              <a:buChar char="•"/>
            </a:pPr>
            <a:r>
              <a:rPr lang="en-US" sz="1600" dirty="0"/>
              <a:t>Multilayer broadband dielectric coating</a:t>
            </a:r>
          </a:p>
          <a:p>
            <a:pPr marL="742950" lvl="1" indent="-285750">
              <a:buFont typeface="Arial" panose="020B0604020202020204" pitchFamily="34" charset="0"/>
              <a:buChar char="•"/>
            </a:pPr>
            <a:r>
              <a:rPr lang="en-US" sz="1600" dirty="0"/>
              <a:t>CW and low-energy pulsed laser applications</a:t>
            </a:r>
            <a:endParaRPr lang="en-US" altLang="en-US" b="1" u="sng" dirty="0"/>
          </a:p>
          <a:p>
            <a:pPr>
              <a:spcBef>
                <a:spcPts val="1200"/>
              </a:spcBef>
              <a:spcAft>
                <a:spcPts val="600"/>
              </a:spcAft>
            </a:pPr>
            <a:r>
              <a:rPr lang="en-US" altLang="en-US" b="1" u="sng" dirty="0"/>
              <a:t>Tools</a:t>
            </a:r>
          </a:p>
          <a:p>
            <a:pPr marL="285750" indent="-285750">
              <a:spcAft>
                <a:spcPts val="600"/>
              </a:spcAft>
              <a:buFont typeface="Arial" panose="020B0604020202020204" pitchFamily="34" charset="0"/>
              <a:buChar char="•"/>
            </a:pPr>
            <a:r>
              <a:rPr lang="en-US" altLang="en-US" dirty="0"/>
              <a:t>Laser protective eyewear for 638 nm</a:t>
            </a:r>
          </a:p>
          <a:p>
            <a:pPr marL="285750" indent="-285750">
              <a:spcAft>
                <a:spcPts val="600"/>
              </a:spcAft>
              <a:buFont typeface="Arial" panose="020B0604020202020204" pitchFamily="34" charset="0"/>
              <a:buChar char="•"/>
            </a:pPr>
            <a:r>
              <a:rPr lang="en-US" altLang="en-US" dirty="0"/>
              <a:t>Beam blocks</a:t>
            </a:r>
          </a:p>
          <a:p>
            <a:pPr marL="285750" indent="-285750">
              <a:spcAft>
                <a:spcPts val="600"/>
              </a:spcAft>
              <a:buFont typeface="Arial" panose="020B0604020202020204" pitchFamily="34" charset="0"/>
              <a:buChar char="•"/>
            </a:pPr>
            <a:r>
              <a:rPr lang="en-US" altLang="en-US" dirty="0"/>
              <a:t>Fluorescent cards</a:t>
            </a:r>
          </a:p>
        </p:txBody>
      </p:sp>
      <p:grpSp>
        <p:nvGrpSpPr>
          <p:cNvPr id="11" name="Group 123"/>
          <p:cNvGrpSpPr>
            <a:grpSpLocks/>
          </p:cNvGrpSpPr>
          <p:nvPr/>
        </p:nvGrpSpPr>
        <p:grpSpPr bwMode="auto">
          <a:xfrm>
            <a:off x="5239996" y="4077379"/>
            <a:ext cx="3770839" cy="2052630"/>
            <a:chOff x="5558127" y="1016000"/>
            <a:chExt cx="3585874" cy="1688493"/>
          </a:xfrm>
        </p:grpSpPr>
        <p:grpSp>
          <p:nvGrpSpPr>
            <p:cNvPr id="12" name="Group 87"/>
            <p:cNvGrpSpPr>
              <a:grpSpLocks/>
            </p:cNvGrpSpPr>
            <p:nvPr/>
          </p:nvGrpSpPr>
          <p:grpSpPr bwMode="auto">
            <a:xfrm>
              <a:off x="6197601" y="1151974"/>
              <a:ext cx="2946400" cy="1282700"/>
              <a:chOff x="5718388" y="1930781"/>
              <a:chExt cx="2946400" cy="1282700"/>
            </a:xfrm>
          </p:grpSpPr>
          <p:pic>
            <p:nvPicPr>
              <p:cNvPr id="20" name="Picture 9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18388" y="1930781"/>
                <a:ext cx="294640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Curved Down Arrow 20"/>
              <p:cNvSpPr>
                <a:spLocks noChangeArrowheads="1"/>
              </p:cNvSpPr>
              <p:nvPr/>
            </p:nvSpPr>
            <p:spPr bwMode="auto">
              <a:xfrm rot="-4360183">
                <a:off x="5964771" y="2545384"/>
                <a:ext cx="742683" cy="292077"/>
              </a:xfrm>
              <a:prstGeom prst="curvedDownArrow">
                <a:avLst>
                  <a:gd name="adj1" fmla="val 24992"/>
                  <a:gd name="adj2" fmla="val 49996"/>
                  <a:gd name="adj3" fmla="val 25000"/>
                </a:avLst>
              </a:prstGeom>
              <a:gradFill rotWithShape="1">
                <a:gsLst>
                  <a:gs pos="0">
                    <a:srgbClr val="9BC1FF"/>
                  </a:gs>
                  <a:gs pos="100000">
                    <a:srgbClr val="3F80CD"/>
                  </a:gs>
                </a:gsLst>
                <a:lin ang="5400000"/>
              </a:gradFill>
              <a:ln w="9525">
                <a:solidFill>
                  <a:srgbClr val="4A7EBB"/>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latin typeface="+mn-lt"/>
                  <a:ea typeface="+mn-ea"/>
                </a:endParaRPr>
              </a:p>
            </p:txBody>
          </p:sp>
        </p:grpSp>
        <p:cxnSp>
          <p:nvCxnSpPr>
            <p:cNvPr id="15" name="Straight Connector 14"/>
            <p:cNvCxnSpPr/>
            <p:nvPr/>
          </p:nvCxnSpPr>
          <p:spPr>
            <a:xfrm>
              <a:off x="5558127" y="1235151"/>
              <a:ext cx="1258691" cy="669932"/>
            </a:xfrm>
            <a:prstGeom prst="line">
              <a:avLst/>
            </a:prstGeom>
            <a:ln>
              <a:solidFill>
                <a:srgbClr val="C70202"/>
              </a:solidFill>
              <a:prstDash val="solid"/>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6880225" y="1943100"/>
              <a:ext cx="161925" cy="92075"/>
            </a:xfrm>
            <a:prstGeom prst="line">
              <a:avLst/>
            </a:prstGeom>
            <a:ln>
              <a:solidFill>
                <a:srgbClr val="C70202"/>
              </a:solidFill>
              <a:prstDash val="solid"/>
              <a:tailEnd type="none"/>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7861403" y="1016000"/>
              <a:ext cx="1079413" cy="152345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8" name="Straight Connector 17"/>
            <p:cNvCxnSpPr/>
            <p:nvPr/>
          </p:nvCxnSpPr>
          <p:spPr>
            <a:xfrm flipV="1">
              <a:off x="7093619" y="1593563"/>
              <a:ext cx="921233" cy="442209"/>
            </a:xfrm>
            <a:prstGeom prst="line">
              <a:avLst/>
            </a:prstGeom>
            <a:ln>
              <a:solidFill>
                <a:srgbClr val="C70202"/>
              </a:solidFill>
              <a:prstDash val="sysDot"/>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7088267" y="2058524"/>
              <a:ext cx="1246710" cy="645969"/>
            </a:xfrm>
            <a:prstGeom prst="line">
              <a:avLst/>
            </a:prstGeom>
            <a:ln>
              <a:solidFill>
                <a:srgbClr val="C70202"/>
              </a:solidFill>
              <a:prstDash val="solid"/>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cxnSp>
        <p:nvCxnSpPr>
          <p:cNvPr id="22" name="Straight Connector 21"/>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590" y="77678"/>
            <a:ext cx="8424907" cy="606124"/>
          </a:xfrm>
        </p:spPr>
        <p:txBody>
          <a:bodyPr>
            <a:noAutofit/>
          </a:bodyPr>
          <a:lstStyle/>
          <a:p>
            <a:r>
              <a:rPr lang="en-US" sz="3600" b="1" dirty="0">
                <a:solidFill>
                  <a:schemeClr val="accent5">
                    <a:lumMod val="75000"/>
                  </a:schemeClr>
                </a:solidFill>
              </a:rPr>
              <a:t>Beam Splitter Cube Alignment</a:t>
            </a:r>
          </a:p>
        </p:txBody>
      </p:sp>
      <p:sp>
        <p:nvSpPr>
          <p:cNvPr id="12" name="Slide Number Placeholder 11"/>
          <p:cNvSpPr>
            <a:spLocks noGrp="1"/>
          </p:cNvSpPr>
          <p:nvPr>
            <p:ph type="sldNum" sz="quarter" idx="12"/>
          </p:nvPr>
        </p:nvSpPr>
        <p:spPr/>
        <p:txBody>
          <a:bodyPr/>
          <a:lstStyle/>
          <a:p>
            <a:fld id="{9A8DD42E-82A4-4B2D-82BB-498554518294}" type="slidenum">
              <a:rPr lang="en-US" smtClean="0"/>
              <a:t>6</a:t>
            </a:fld>
            <a:endParaRPr lang="en-US"/>
          </a:p>
        </p:txBody>
      </p:sp>
      <p:sp>
        <p:nvSpPr>
          <p:cNvPr id="14" name="Rectangle 20"/>
          <p:cNvSpPr>
            <a:spLocks noChangeArrowheads="1"/>
          </p:cNvSpPr>
          <p:nvPr/>
        </p:nvSpPr>
        <p:spPr bwMode="auto">
          <a:xfrm>
            <a:off x="451159" y="3898714"/>
            <a:ext cx="8186813" cy="265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400"/>
              </a:spcAft>
              <a:buNone/>
            </a:pPr>
            <a:r>
              <a:rPr lang="en-US" altLang="en-US" sz="1400" b="1" u="sng" dirty="0"/>
              <a:t>TASKS:</a:t>
            </a:r>
          </a:p>
          <a:p>
            <a:pPr marL="635000" indent="-342900">
              <a:spcBef>
                <a:spcPct val="0"/>
              </a:spcBef>
              <a:spcAft>
                <a:spcPts val="400"/>
              </a:spcAft>
              <a:buFontTx/>
              <a:buAutoNum type="arabicPeriod"/>
            </a:pPr>
            <a:r>
              <a:rPr lang="en-US" altLang="en-US" sz="1400" dirty="0"/>
              <a:t>Start with the laser beam blocked or disabled. Remove (or leave in) the wedge window mount.</a:t>
            </a:r>
          </a:p>
          <a:p>
            <a:pPr marL="635000" indent="-342900">
              <a:spcBef>
                <a:spcPct val="0"/>
              </a:spcBef>
              <a:spcAft>
                <a:spcPts val="400"/>
              </a:spcAft>
              <a:buFontTx/>
              <a:buAutoNum type="arabicPeriod"/>
            </a:pPr>
            <a:r>
              <a:rPr lang="en-US" altLang="en-US" sz="1400" dirty="0"/>
              <a:t>Repeat tasks 2 thru 8 from Exercise # 1 if not completed already.</a:t>
            </a:r>
          </a:p>
          <a:p>
            <a:pPr marL="635000" indent="-342900">
              <a:spcBef>
                <a:spcPct val="0"/>
              </a:spcBef>
              <a:spcAft>
                <a:spcPts val="400"/>
              </a:spcAft>
              <a:buFontTx/>
              <a:buAutoNum type="arabicPeriod"/>
            </a:pPr>
            <a:r>
              <a:rPr lang="en-US" altLang="en-US" sz="1400" dirty="0"/>
              <a:t>Block the laser. Place a beam block at front of the cube. Open the second iris. </a:t>
            </a:r>
          </a:p>
          <a:p>
            <a:pPr marL="635000" indent="-342900">
              <a:spcBef>
                <a:spcPct val="0"/>
              </a:spcBef>
              <a:spcAft>
                <a:spcPts val="400"/>
              </a:spcAft>
              <a:buFontTx/>
              <a:buAutoNum type="arabicPeriod"/>
            </a:pPr>
            <a:r>
              <a:rPr lang="en-US" altLang="en-US" sz="1400" dirty="0"/>
              <a:t>Unblock the beam.</a:t>
            </a:r>
          </a:p>
          <a:p>
            <a:pPr marL="635000" indent="-342900">
              <a:spcBef>
                <a:spcPct val="0"/>
              </a:spcBef>
              <a:spcAft>
                <a:spcPts val="400"/>
              </a:spcAft>
              <a:buFontTx/>
              <a:buAutoNum type="arabicPeriod"/>
            </a:pPr>
            <a:r>
              <a:rPr lang="en-US" altLang="en-US" sz="1400" dirty="0"/>
              <a:t>Adjust the mount so the beam enters the cube aperture. Rotate/adjust the beamsplitter mount so that reflected beam would be in horizontal plane and on the target.</a:t>
            </a:r>
          </a:p>
          <a:p>
            <a:pPr marL="635000" indent="-342900">
              <a:spcBef>
                <a:spcPct val="0"/>
              </a:spcBef>
              <a:spcAft>
                <a:spcPts val="400"/>
              </a:spcAft>
              <a:buFontTx/>
              <a:buAutoNum type="arabicPeriod"/>
            </a:pPr>
            <a:r>
              <a:rPr lang="en-US" altLang="en-US" sz="1400" dirty="0"/>
              <a:t>Check for stray beam at all sides. </a:t>
            </a:r>
          </a:p>
          <a:p>
            <a:pPr marL="635000" indent="-342900">
              <a:spcBef>
                <a:spcPct val="0"/>
              </a:spcBef>
              <a:spcAft>
                <a:spcPts val="400"/>
              </a:spcAft>
              <a:buFontTx/>
              <a:buAutoNum type="arabicPeriod"/>
            </a:pPr>
            <a:r>
              <a:rPr lang="en-US" altLang="en-US" sz="1400" dirty="0"/>
              <a:t>Verify all beams, including reflected or stray beams, are contained.</a:t>
            </a:r>
          </a:p>
          <a:p>
            <a:pPr marL="635000" indent="-342900">
              <a:spcBef>
                <a:spcPct val="0"/>
              </a:spcBef>
              <a:spcAft>
                <a:spcPts val="400"/>
              </a:spcAft>
              <a:buFontTx/>
              <a:buAutoNum type="arabicPeriod"/>
            </a:pPr>
            <a:r>
              <a:rPr lang="en-US" altLang="en-US" sz="1400" dirty="0"/>
              <a:t>Block the laser or turn it off.</a:t>
            </a:r>
          </a:p>
        </p:txBody>
      </p:sp>
      <p:sp>
        <p:nvSpPr>
          <p:cNvPr id="7" name="Rectangle 6"/>
          <p:cNvSpPr/>
          <p:nvPr/>
        </p:nvSpPr>
        <p:spPr>
          <a:xfrm>
            <a:off x="353232" y="795789"/>
            <a:ext cx="1799532" cy="369332"/>
          </a:xfrm>
          <a:prstGeom prst="rect">
            <a:avLst/>
          </a:prstGeom>
        </p:spPr>
        <p:txBody>
          <a:bodyPr wrap="none">
            <a:spAutoFit/>
          </a:bodyPr>
          <a:lstStyle/>
          <a:p>
            <a:pPr>
              <a:spcBef>
                <a:spcPct val="0"/>
              </a:spcBef>
              <a:spcAft>
                <a:spcPts val="1200"/>
              </a:spcAft>
            </a:pPr>
            <a:r>
              <a:rPr lang="en-US" altLang="en-US" b="1" u="sng" dirty="0"/>
              <a:t>OPTICAL LAYOUT</a:t>
            </a:r>
          </a:p>
        </p:txBody>
      </p:sp>
      <p:cxnSp>
        <p:nvCxnSpPr>
          <p:cNvPr id="140" name="Straight Connector 139"/>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62" name="Group 61"/>
          <p:cNvGrpSpPr/>
          <p:nvPr/>
        </p:nvGrpSpPr>
        <p:grpSpPr>
          <a:xfrm>
            <a:off x="353232" y="1168178"/>
            <a:ext cx="8241177" cy="2730536"/>
            <a:chOff x="150920" y="832159"/>
            <a:chExt cx="8241177" cy="2730536"/>
          </a:xfrm>
        </p:grpSpPr>
        <p:grpSp>
          <p:nvGrpSpPr>
            <p:cNvPr id="63" name="Group 62"/>
            <p:cNvGrpSpPr/>
            <p:nvPr/>
          </p:nvGrpSpPr>
          <p:grpSpPr>
            <a:xfrm>
              <a:off x="1059514" y="832159"/>
              <a:ext cx="7332583" cy="2730536"/>
              <a:chOff x="1749622" y="487808"/>
              <a:chExt cx="7332583" cy="2730536"/>
            </a:xfrm>
          </p:grpSpPr>
          <p:grpSp>
            <p:nvGrpSpPr>
              <p:cNvPr id="73" name="Group 72"/>
              <p:cNvGrpSpPr/>
              <p:nvPr/>
            </p:nvGrpSpPr>
            <p:grpSpPr>
              <a:xfrm>
                <a:off x="1749622" y="487808"/>
                <a:ext cx="7332583" cy="2730536"/>
                <a:chOff x="1749622" y="487808"/>
                <a:chExt cx="7332583" cy="2730536"/>
              </a:xfrm>
            </p:grpSpPr>
            <p:grpSp>
              <p:nvGrpSpPr>
                <p:cNvPr id="75" name="Group 74"/>
                <p:cNvGrpSpPr/>
                <p:nvPr/>
              </p:nvGrpSpPr>
              <p:grpSpPr>
                <a:xfrm>
                  <a:off x="1749622" y="487808"/>
                  <a:ext cx="7123531" cy="2627335"/>
                  <a:chOff x="1202907" y="3867415"/>
                  <a:chExt cx="7123531" cy="2627335"/>
                </a:xfrm>
              </p:grpSpPr>
              <p:grpSp>
                <p:nvGrpSpPr>
                  <p:cNvPr id="77" name="Group 125"/>
                  <p:cNvGrpSpPr>
                    <a:grpSpLocks/>
                  </p:cNvGrpSpPr>
                  <p:nvPr/>
                </p:nvGrpSpPr>
                <p:grpSpPr bwMode="auto">
                  <a:xfrm>
                    <a:off x="6702183" y="3867415"/>
                    <a:ext cx="719138" cy="730250"/>
                    <a:chOff x="4946296" y="4335622"/>
                    <a:chExt cx="720535" cy="731520"/>
                  </a:xfrm>
                </p:grpSpPr>
                <p:grpSp>
                  <p:nvGrpSpPr>
                    <p:cNvPr id="141" name="Group 95"/>
                    <p:cNvGrpSpPr>
                      <a:grpSpLocks/>
                    </p:cNvGrpSpPr>
                    <p:nvPr/>
                  </p:nvGrpSpPr>
                  <p:grpSpPr bwMode="auto">
                    <a:xfrm>
                      <a:off x="5077760" y="4447765"/>
                      <a:ext cx="532846" cy="551821"/>
                      <a:chOff x="7738410" y="5697643"/>
                      <a:chExt cx="532846" cy="672334"/>
                    </a:xfrm>
                  </p:grpSpPr>
                  <p:sp>
                    <p:nvSpPr>
                      <p:cNvPr id="144" name="Oval 143"/>
                      <p:cNvSpPr>
                        <a:spLocks noChangeArrowheads="1"/>
                      </p:cNvSpPr>
                      <p:nvPr/>
                    </p:nvSpPr>
                    <p:spPr bwMode="auto">
                      <a:xfrm>
                        <a:off x="7738410" y="5697643"/>
                        <a:ext cx="532846" cy="672334"/>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145" name="Oval 144"/>
                      <p:cNvSpPr>
                        <a:spLocks noChangeArrowheads="1"/>
                      </p:cNvSpPr>
                      <p:nvPr/>
                    </p:nvSpPr>
                    <p:spPr bwMode="auto">
                      <a:xfrm>
                        <a:off x="7814758" y="5802271"/>
                        <a:ext cx="380150" cy="480515"/>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146" name="Oval 145"/>
                      <p:cNvSpPr>
                        <a:spLocks noChangeArrowheads="1"/>
                      </p:cNvSpPr>
                      <p:nvPr/>
                    </p:nvSpPr>
                    <p:spPr bwMode="auto">
                      <a:xfrm>
                        <a:off x="7891106" y="5901086"/>
                        <a:ext cx="227454" cy="286759"/>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grpSp>
                <p:cxnSp>
                  <p:nvCxnSpPr>
                    <p:cNvPr id="142" name="Straight Connector 128"/>
                    <p:cNvCxnSpPr>
                      <a:cxnSpLocks noChangeShapeType="1"/>
                    </p:cNvCxnSpPr>
                    <p:nvPr/>
                  </p:nvCxnSpPr>
                  <p:spPr bwMode="auto">
                    <a:xfrm rot="5400000">
                      <a:off x="4979404" y="4700587"/>
                      <a:ext cx="731520" cy="1590"/>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43" name="Straight Connector 129"/>
                    <p:cNvCxnSpPr>
                      <a:cxnSpLocks noChangeShapeType="1"/>
                    </p:cNvCxnSpPr>
                    <p:nvPr/>
                  </p:nvCxnSpPr>
                  <p:spPr bwMode="auto">
                    <a:xfrm>
                      <a:off x="4946296" y="4726472"/>
                      <a:ext cx="720535" cy="0"/>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grpSp>
                <p:nvGrpSpPr>
                  <p:cNvPr id="78" name="Group 1"/>
                  <p:cNvGrpSpPr>
                    <a:grpSpLocks/>
                  </p:cNvGrpSpPr>
                  <p:nvPr/>
                </p:nvGrpSpPr>
                <p:grpSpPr bwMode="auto">
                  <a:xfrm>
                    <a:off x="1202907" y="3967488"/>
                    <a:ext cx="7123531" cy="2527262"/>
                    <a:chOff x="1202907" y="3967488"/>
                    <a:chExt cx="7123531" cy="2527262"/>
                  </a:xfrm>
                </p:grpSpPr>
                <p:grpSp>
                  <p:nvGrpSpPr>
                    <p:cNvPr id="79" name="Group 155"/>
                    <p:cNvGrpSpPr>
                      <a:grpSpLocks/>
                    </p:cNvGrpSpPr>
                    <p:nvPr/>
                  </p:nvGrpSpPr>
                  <p:grpSpPr bwMode="auto">
                    <a:xfrm>
                      <a:off x="6870700" y="5283200"/>
                      <a:ext cx="469900" cy="482600"/>
                      <a:chOff x="5029200" y="4533900"/>
                      <a:chExt cx="469900" cy="482600"/>
                    </a:xfrm>
                  </p:grpSpPr>
                  <p:sp>
                    <p:nvSpPr>
                      <p:cNvPr id="131" name="Rectangle 130"/>
                      <p:cNvSpPr>
                        <a:spLocks noChangeArrowheads="1"/>
                      </p:cNvSpPr>
                      <p:nvPr/>
                    </p:nvSpPr>
                    <p:spPr bwMode="auto">
                      <a:xfrm>
                        <a:off x="5029200" y="4546600"/>
                        <a:ext cx="457200" cy="457200"/>
                      </a:xfrm>
                      <a:prstGeom prst="rect">
                        <a:avLst/>
                      </a:prstGeom>
                      <a:solidFill>
                        <a:srgbClr val="7F7F7F"/>
                      </a:solidFill>
                      <a:ln w="2540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cxnSp>
                    <p:nvCxnSpPr>
                      <p:cNvPr id="132" name="Straight Connector 154"/>
                      <p:cNvCxnSpPr>
                        <a:cxnSpLocks noChangeShapeType="1"/>
                      </p:cNvCxnSpPr>
                      <p:nvPr/>
                    </p:nvCxnSpPr>
                    <p:spPr bwMode="auto">
                      <a:xfrm rot="5400000">
                        <a:off x="5022850" y="4540250"/>
                        <a:ext cx="482600" cy="469900"/>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grpSp>
                  <p:nvGrpSpPr>
                    <p:cNvPr id="80" name="Group 21"/>
                    <p:cNvGrpSpPr>
                      <a:grpSpLocks/>
                    </p:cNvGrpSpPr>
                    <p:nvPr/>
                  </p:nvGrpSpPr>
                  <p:grpSpPr bwMode="auto">
                    <a:xfrm>
                      <a:off x="2027238" y="5219700"/>
                      <a:ext cx="152400" cy="609600"/>
                      <a:chOff x="1968" y="2448"/>
                      <a:chExt cx="192" cy="384"/>
                    </a:xfrm>
                  </p:grpSpPr>
                  <p:grpSp>
                    <p:nvGrpSpPr>
                      <p:cNvPr id="104" name="Group 22"/>
                      <p:cNvGrpSpPr>
                        <a:grpSpLocks/>
                      </p:cNvGrpSpPr>
                      <p:nvPr/>
                    </p:nvGrpSpPr>
                    <p:grpSpPr bwMode="auto">
                      <a:xfrm>
                        <a:off x="1968" y="2448"/>
                        <a:ext cx="192" cy="144"/>
                        <a:chOff x="1968" y="2448"/>
                        <a:chExt cx="192" cy="144"/>
                      </a:xfrm>
                    </p:grpSpPr>
                    <p:sp>
                      <p:nvSpPr>
                        <p:cNvPr id="114"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5"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9" name="Group 25"/>
                      <p:cNvGrpSpPr>
                        <a:grpSpLocks/>
                      </p:cNvGrpSpPr>
                      <p:nvPr/>
                    </p:nvGrpSpPr>
                    <p:grpSpPr bwMode="auto">
                      <a:xfrm rot="10800000">
                        <a:off x="1968" y="2688"/>
                        <a:ext cx="192" cy="144"/>
                        <a:chOff x="1968" y="2448"/>
                        <a:chExt cx="192" cy="144"/>
                      </a:xfrm>
                    </p:grpSpPr>
                    <p:sp>
                      <p:nvSpPr>
                        <p:cNvPr id="111"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81" name="Group 21"/>
                    <p:cNvGrpSpPr>
                      <a:grpSpLocks/>
                    </p:cNvGrpSpPr>
                    <p:nvPr/>
                  </p:nvGrpSpPr>
                  <p:grpSpPr bwMode="auto">
                    <a:xfrm>
                      <a:off x="3998913" y="5213350"/>
                      <a:ext cx="152400" cy="609600"/>
                      <a:chOff x="1968" y="2448"/>
                      <a:chExt cx="192" cy="384"/>
                    </a:xfrm>
                  </p:grpSpPr>
                  <p:grpSp>
                    <p:nvGrpSpPr>
                      <p:cNvPr id="98" name="Group 22"/>
                      <p:cNvGrpSpPr>
                        <a:grpSpLocks/>
                      </p:cNvGrpSpPr>
                      <p:nvPr/>
                    </p:nvGrpSpPr>
                    <p:grpSpPr bwMode="auto">
                      <a:xfrm>
                        <a:off x="1968" y="2448"/>
                        <a:ext cx="192" cy="144"/>
                        <a:chOff x="1968" y="2448"/>
                        <a:chExt cx="192" cy="144"/>
                      </a:xfrm>
                    </p:grpSpPr>
                    <p:sp>
                      <p:nvSpPr>
                        <p:cNvPr id="102"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9" name="Group 25"/>
                      <p:cNvGrpSpPr>
                        <a:grpSpLocks/>
                      </p:cNvGrpSpPr>
                      <p:nvPr/>
                    </p:nvGrpSpPr>
                    <p:grpSpPr bwMode="auto">
                      <a:xfrm rot="10800000">
                        <a:off x="1968" y="2688"/>
                        <a:ext cx="192" cy="144"/>
                        <a:chOff x="1968" y="2448"/>
                        <a:chExt cx="192" cy="144"/>
                      </a:xfrm>
                    </p:grpSpPr>
                    <p:sp>
                      <p:nvSpPr>
                        <p:cNvPr id="100"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cxnSp>
                  <p:nvCxnSpPr>
                    <p:cNvPr id="82" name="Straight Connector 81"/>
                    <p:cNvCxnSpPr/>
                    <p:nvPr/>
                  </p:nvCxnSpPr>
                  <p:spPr>
                    <a:xfrm flipV="1">
                      <a:off x="1202907" y="5510520"/>
                      <a:ext cx="5839638" cy="20330"/>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83" name="Straight Connector 68"/>
                    <p:cNvCxnSpPr>
                      <a:cxnSpLocks noChangeShapeType="1"/>
                    </p:cNvCxnSpPr>
                    <p:nvPr/>
                  </p:nvCxnSpPr>
                  <p:spPr bwMode="auto">
                    <a:xfrm flipH="1" flipV="1">
                      <a:off x="2541576" y="3967488"/>
                      <a:ext cx="14081" cy="629338"/>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84" name="Freeform 83"/>
                    <p:cNvSpPr/>
                    <p:nvPr/>
                  </p:nvSpPr>
                  <p:spPr>
                    <a:xfrm rot="9696693" flipH="1">
                      <a:off x="2141734" y="4431215"/>
                      <a:ext cx="383942" cy="17817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85" name="Freeform 84"/>
                    <p:cNvSpPr/>
                    <p:nvPr/>
                  </p:nvSpPr>
                  <p:spPr>
                    <a:xfrm rot="5400000" flipH="1">
                      <a:off x="2343944" y="5591969"/>
                      <a:ext cx="309562" cy="70485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86" name="TextBox 72"/>
                    <p:cNvSpPr txBox="1">
                      <a:spLocks noChangeArrowheads="1"/>
                    </p:cNvSpPr>
                    <p:nvPr/>
                  </p:nvSpPr>
                  <p:spPr bwMode="auto">
                    <a:xfrm>
                      <a:off x="2740026" y="5953303"/>
                      <a:ext cx="8064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b="1" dirty="0"/>
                        <a:t>IRISES</a:t>
                      </a:r>
                    </a:p>
                  </p:txBody>
                </p:sp>
                <p:sp>
                  <p:nvSpPr>
                    <p:cNvPr id="87" name="Freeform 86"/>
                    <p:cNvSpPr/>
                    <p:nvPr/>
                  </p:nvSpPr>
                  <p:spPr>
                    <a:xfrm rot="5400000" flipH="1" flipV="1">
                      <a:off x="3534569" y="5657056"/>
                      <a:ext cx="357188" cy="549275"/>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88" name="TextBox 77"/>
                    <p:cNvSpPr txBox="1">
                      <a:spLocks noChangeArrowheads="1"/>
                    </p:cNvSpPr>
                    <p:nvPr/>
                  </p:nvSpPr>
                  <p:spPr bwMode="auto">
                    <a:xfrm>
                      <a:off x="5073266" y="4347474"/>
                      <a:ext cx="121815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REFLECTED BEAM TARGET</a:t>
                      </a:r>
                      <a:endParaRPr lang="en-US" altLang="en-US" sz="1200" dirty="0"/>
                    </a:p>
                  </p:txBody>
                </p:sp>
                <p:sp>
                  <p:nvSpPr>
                    <p:cNvPr id="89" name="TextBox 79"/>
                    <p:cNvSpPr txBox="1">
                      <a:spLocks noChangeArrowheads="1"/>
                    </p:cNvSpPr>
                    <p:nvPr/>
                  </p:nvSpPr>
                  <p:spPr bwMode="auto">
                    <a:xfrm>
                      <a:off x="2805709" y="4376687"/>
                      <a:ext cx="12271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1.4 mW, 638 nm</a:t>
                      </a:r>
                      <a:endParaRPr lang="en-US" altLang="en-US" sz="1200" dirty="0"/>
                    </a:p>
                  </p:txBody>
                </p:sp>
                <p:sp>
                  <p:nvSpPr>
                    <p:cNvPr id="90" name="TextBox 80"/>
                    <p:cNvSpPr txBox="1">
                      <a:spLocks noChangeArrowheads="1"/>
                    </p:cNvSpPr>
                    <p:nvPr/>
                  </p:nvSpPr>
                  <p:spPr bwMode="auto">
                    <a:xfrm>
                      <a:off x="5460704" y="6033085"/>
                      <a:ext cx="14795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SPLITTER CUBE</a:t>
                      </a:r>
                      <a:endParaRPr lang="en-US" altLang="en-US" sz="1200" dirty="0"/>
                    </a:p>
                  </p:txBody>
                </p:sp>
                <p:sp>
                  <p:nvSpPr>
                    <p:cNvPr id="91" name="Freeform 90"/>
                    <p:cNvSpPr/>
                    <p:nvPr/>
                  </p:nvSpPr>
                  <p:spPr>
                    <a:xfrm rot="5400000" flipH="1" flipV="1">
                      <a:off x="6530532" y="5863386"/>
                      <a:ext cx="521981" cy="502045"/>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92" name="Freeform 91"/>
                    <p:cNvSpPr/>
                    <p:nvPr/>
                  </p:nvSpPr>
                  <p:spPr>
                    <a:xfrm rot="5400000" flipH="1" flipV="1">
                      <a:off x="6170519" y="4172749"/>
                      <a:ext cx="274638" cy="95250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cxnSp>
                  <p:nvCxnSpPr>
                    <p:cNvPr id="93" name="Straight Connector 92"/>
                    <p:cNvCxnSpPr/>
                    <p:nvPr/>
                  </p:nvCxnSpPr>
                  <p:spPr>
                    <a:xfrm>
                      <a:off x="7124700" y="5524500"/>
                      <a:ext cx="766233" cy="4233"/>
                    </a:xfrm>
                    <a:prstGeom prst="line">
                      <a:avLst/>
                    </a:prstGeom>
                    <a:ln>
                      <a:solidFill>
                        <a:srgbClr val="C70202"/>
                      </a:solidFill>
                      <a:prstDash val="sysDot"/>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94" name="Straight Connector 145"/>
                    <p:cNvCxnSpPr>
                      <a:cxnSpLocks noChangeShapeType="1"/>
                    </p:cNvCxnSpPr>
                    <p:nvPr/>
                  </p:nvCxnSpPr>
                  <p:spPr bwMode="auto">
                    <a:xfrm rot="5400000">
                      <a:off x="7741444" y="5544344"/>
                      <a:ext cx="377825" cy="1587"/>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95" name="Rectangle 94"/>
                    <p:cNvSpPr>
                      <a:spLocks noChangeArrowheads="1"/>
                    </p:cNvSpPr>
                    <p:nvPr/>
                  </p:nvSpPr>
                  <p:spPr bwMode="auto">
                    <a:xfrm>
                      <a:off x="2844456" y="4046487"/>
                      <a:ext cx="1052513" cy="354012"/>
                    </a:xfrm>
                    <a:prstGeom prst="rect">
                      <a:avLst/>
                    </a:prstGeom>
                    <a:solidFill>
                      <a:srgbClr val="FF0000"/>
                    </a:solidFill>
                    <a:ln w="9525">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r>
                        <a:rPr lang="en-US" sz="1400" b="1" cap="small" dirty="0">
                          <a:latin typeface="+mn-lt"/>
                          <a:ea typeface="+mn-ea"/>
                        </a:rPr>
                        <a:t>Diode Laser</a:t>
                      </a:r>
                    </a:p>
                  </p:txBody>
                </p:sp>
                <p:cxnSp>
                  <p:nvCxnSpPr>
                    <p:cNvPr id="96" name="Straight Connector 95"/>
                    <p:cNvCxnSpPr/>
                    <p:nvPr/>
                  </p:nvCxnSpPr>
                  <p:spPr>
                    <a:xfrm flipV="1">
                      <a:off x="7099298" y="4333239"/>
                      <a:ext cx="2" cy="1106535"/>
                    </a:xfrm>
                    <a:prstGeom prst="line">
                      <a:avLst/>
                    </a:prstGeom>
                    <a:ln>
                      <a:solidFill>
                        <a:srgbClr val="C70202"/>
                      </a:solidFill>
                      <a:prstDash val="sysDash"/>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sp>
                  <p:nvSpPr>
                    <p:cNvPr id="97" name="Freeform 96"/>
                    <p:cNvSpPr/>
                    <p:nvPr/>
                  </p:nvSpPr>
                  <p:spPr>
                    <a:xfrm rot="5400000" flipH="1">
                      <a:off x="7881937" y="5872163"/>
                      <a:ext cx="500063" cy="388938"/>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grpSp>
            <p:sp>
              <p:nvSpPr>
                <p:cNvPr id="76" name="TextBox 146"/>
                <p:cNvSpPr txBox="1">
                  <a:spLocks noChangeArrowheads="1"/>
                </p:cNvSpPr>
                <p:nvPr/>
              </p:nvSpPr>
              <p:spPr bwMode="auto">
                <a:xfrm>
                  <a:off x="7601067" y="2938944"/>
                  <a:ext cx="1481138"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r" eaLnBrk="1" hangingPunct="1">
                    <a:spcBef>
                      <a:spcPct val="0"/>
                    </a:spcBef>
                    <a:buFontTx/>
                    <a:buNone/>
                  </a:pPr>
                  <a:r>
                    <a:rPr lang="en-US" altLang="en-US" sz="1200" b="1" dirty="0"/>
                    <a:t>BEAM BLOCK</a:t>
                  </a:r>
                  <a:endParaRPr lang="en-US" altLang="en-US" sz="1200" dirty="0"/>
                </a:p>
              </p:txBody>
            </p:sp>
          </p:grpSp>
          <p:sp>
            <p:nvSpPr>
              <p:cNvPr id="74" name="TextBox 146"/>
              <p:cNvSpPr txBox="1">
                <a:spLocks noChangeArrowheads="1"/>
              </p:cNvSpPr>
              <p:nvPr/>
            </p:nvSpPr>
            <p:spPr bwMode="auto">
              <a:xfrm>
                <a:off x="2461300" y="1272280"/>
                <a:ext cx="1040045" cy="281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grpSp>
        <p:sp>
          <p:nvSpPr>
            <p:cNvPr id="64" name="Rectangle 63"/>
            <p:cNvSpPr>
              <a:spLocks noChangeArrowheads="1"/>
            </p:cNvSpPr>
            <p:nvPr/>
          </p:nvSpPr>
          <p:spPr bwMode="auto">
            <a:xfrm rot="2677687">
              <a:off x="941141" y="900369"/>
              <a:ext cx="157594" cy="488922"/>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65" name="TextBox 80"/>
            <p:cNvSpPr txBox="1">
              <a:spLocks noChangeArrowheads="1"/>
            </p:cNvSpPr>
            <p:nvPr/>
          </p:nvSpPr>
          <p:spPr bwMode="auto">
            <a:xfrm>
              <a:off x="150920" y="832159"/>
              <a:ext cx="850497" cy="22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MIRROR 1</a:t>
              </a:r>
              <a:endParaRPr lang="en-US" altLang="en-US" sz="1200" dirty="0"/>
            </a:p>
          </p:txBody>
        </p:sp>
        <p:sp>
          <p:nvSpPr>
            <p:cNvPr id="67" name="Rectangle 66"/>
            <p:cNvSpPr>
              <a:spLocks noChangeArrowheads="1"/>
            </p:cNvSpPr>
            <p:nvPr/>
          </p:nvSpPr>
          <p:spPr bwMode="auto">
            <a:xfrm rot="2677687">
              <a:off x="722167" y="2495075"/>
              <a:ext cx="504080" cy="171918"/>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68" name="TextBox 80"/>
            <p:cNvSpPr txBox="1">
              <a:spLocks noChangeArrowheads="1"/>
            </p:cNvSpPr>
            <p:nvPr/>
          </p:nvSpPr>
          <p:spPr bwMode="auto">
            <a:xfrm>
              <a:off x="317184" y="2909138"/>
              <a:ext cx="85049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MIRROR 2</a:t>
              </a:r>
              <a:endParaRPr lang="en-US" altLang="en-US" sz="1200" dirty="0"/>
            </a:p>
          </p:txBody>
        </p:sp>
        <p:sp>
          <p:nvSpPr>
            <p:cNvPr id="69" name="Freeform 68"/>
            <p:cNvSpPr/>
            <p:nvPr/>
          </p:nvSpPr>
          <p:spPr bwMode="auto">
            <a:xfrm rot="5400000" flipH="1" flipV="1">
              <a:off x="568098" y="2684030"/>
              <a:ext cx="332701" cy="193918"/>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70" name="Freeform 69"/>
            <p:cNvSpPr/>
            <p:nvPr/>
          </p:nvSpPr>
          <p:spPr bwMode="auto">
            <a:xfrm rot="5400000" flipV="1">
              <a:off x="579667" y="938760"/>
              <a:ext cx="72776" cy="36587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cxnSp>
          <p:nvCxnSpPr>
            <p:cNvPr id="71" name="Straight Connector 70"/>
            <p:cNvCxnSpPr/>
            <p:nvPr/>
          </p:nvCxnSpPr>
          <p:spPr bwMode="auto">
            <a:xfrm flipH="1">
              <a:off x="1046760" y="1228269"/>
              <a:ext cx="1629651" cy="24558"/>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72" name="Straight Connector 71"/>
            <p:cNvCxnSpPr/>
            <p:nvPr/>
          </p:nvCxnSpPr>
          <p:spPr bwMode="auto">
            <a:xfrm flipH="1">
              <a:off x="1059514" y="1267213"/>
              <a:ext cx="2" cy="1242668"/>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02931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20" y="-9422"/>
            <a:ext cx="8796014" cy="926123"/>
          </a:xfrm>
        </p:spPr>
        <p:txBody>
          <a:bodyPr>
            <a:noAutofit/>
          </a:bodyPr>
          <a:lstStyle/>
          <a:p>
            <a:r>
              <a:rPr lang="en-US" sz="3200" b="1" dirty="0">
                <a:solidFill>
                  <a:schemeClr val="accent5">
                    <a:lumMod val="75000"/>
                  </a:schemeClr>
                </a:solidFill>
              </a:rPr>
              <a:t>Exercise # 3. IR Beams and Flipper Mirror Setup </a:t>
            </a:r>
          </a:p>
        </p:txBody>
      </p:sp>
      <p:sp>
        <p:nvSpPr>
          <p:cNvPr id="67" name="Slide Number Placeholder 66"/>
          <p:cNvSpPr>
            <a:spLocks noGrp="1"/>
          </p:cNvSpPr>
          <p:nvPr>
            <p:ph type="sldNum" sz="quarter" idx="12"/>
          </p:nvPr>
        </p:nvSpPr>
        <p:spPr/>
        <p:txBody>
          <a:bodyPr/>
          <a:lstStyle/>
          <a:p>
            <a:fld id="{9A8DD42E-82A4-4B2D-82BB-498554518294}" type="slidenum">
              <a:rPr lang="en-US" smtClean="0"/>
              <a:t>7</a:t>
            </a:fld>
            <a:endParaRPr lang="en-US"/>
          </a:p>
        </p:txBody>
      </p:sp>
      <p:sp>
        <p:nvSpPr>
          <p:cNvPr id="14" name="Rectangle 20"/>
          <p:cNvSpPr>
            <a:spLocks noChangeArrowheads="1"/>
          </p:cNvSpPr>
          <p:nvPr/>
        </p:nvSpPr>
        <p:spPr bwMode="auto">
          <a:xfrm>
            <a:off x="0" y="1726422"/>
            <a:ext cx="8266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Aft>
                <a:spcPts val="1200"/>
              </a:spcAft>
              <a:buNone/>
              <a:tabLst>
                <a:tab pos="1997075" algn="l"/>
              </a:tabLst>
              <a:defRPr/>
            </a:pPr>
            <a:r>
              <a:rPr lang="en-US" sz="1800" dirty="0">
                <a:solidFill>
                  <a:schemeClr val="accent5">
                    <a:lumMod val="75000"/>
                  </a:schemeClr>
                </a:solidFill>
                <a:latin typeface="+mn-lt"/>
                <a:ea typeface="+mn-ea"/>
              </a:rPr>
              <a:t>Maximum time for completing the exercise: </a:t>
            </a:r>
            <a:r>
              <a:rPr lang="en-US" sz="1800" dirty="0">
                <a:solidFill>
                  <a:schemeClr val="accent5">
                    <a:lumMod val="75000"/>
                  </a:schemeClr>
                </a:solidFill>
                <a:latin typeface="+mn-lt"/>
                <a:ea typeface="ＭＳ Ｐゴシック" charset="-128"/>
              </a:rPr>
              <a:t>15 minutes</a:t>
            </a:r>
            <a:endParaRPr lang="en-US" altLang="en-US" sz="1800" dirty="0">
              <a:solidFill>
                <a:schemeClr val="accent5">
                  <a:lumMod val="75000"/>
                </a:schemeClr>
              </a:solidFill>
              <a:latin typeface="+mn-lt"/>
              <a:ea typeface="+mn-ea"/>
            </a:endParaRPr>
          </a:p>
        </p:txBody>
      </p:sp>
      <p:sp>
        <p:nvSpPr>
          <p:cNvPr id="68" name="Rectangle 67"/>
          <p:cNvSpPr/>
          <p:nvPr/>
        </p:nvSpPr>
        <p:spPr>
          <a:xfrm>
            <a:off x="351737" y="2375382"/>
            <a:ext cx="8459760" cy="3785652"/>
          </a:xfrm>
          <a:prstGeom prst="rect">
            <a:avLst/>
          </a:prstGeom>
          <a:ln w="19050">
            <a:noFill/>
          </a:ln>
        </p:spPr>
        <p:style>
          <a:lnRef idx="1">
            <a:schemeClr val="accent1"/>
          </a:lnRef>
          <a:fillRef idx="0">
            <a:schemeClr val="accent1"/>
          </a:fillRef>
          <a:effectRef idx="0">
            <a:schemeClr val="accent1"/>
          </a:effectRef>
          <a:fontRef idx="minor">
            <a:schemeClr val="tx1"/>
          </a:fontRef>
        </p:style>
        <p:txBody>
          <a:bodyPr wrap="square">
            <a:spAutoFit/>
          </a:bodyPr>
          <a:lstStyle/>
          <a:p>
            <a:pPr>
              <a:spcBef>
                <a:spcPct val="0"/>
              </a:spcBef>
              <a:spcAft>
                <a:spcPts val="1200"/>
              </a:spcAft>
              <a:buNone/>
            </a:pPr>
            <a:r>
              <a:rPr lang="en-US" altLang="en-US" b="1" u="sng" dirty="0"/>
              <a:t>Overview</a:t>
            </a:r>
          </a:p>
          <a:p>
            <a:pPr>
              <a:spcBef>
                <a:spcPct val="0"/>
              </a:spcBef>
              <a:spcAft>
                <a:spcPts val="1200"/>
              </a:spcAft>
            </a:pPr>
            <a:r>
              <a:rPr lang="en-US" altLang="en-US" dirty="0"/>
              <a:t>The alignment and setup of a flipper mirror assembly presents high potential for laser eye injury as it can be set improperly and provide a risk to redirect a laser beam at a multitude of upward angles during the flipping motion. </a:t>
            </a:r>
          </a:p>
          <a:p>
            <a:pPr>
              <a:spcBef>
                <a:spcPct val="0"/>
              </a:spcBef>
              <a:spcAft>
                <a:spcPts val="1200"/>
              </a:spcAft>
            </a:pPr>
            <a:r>
              <a:rPr lang="en-US" altLang="en-US" dirty="0"/>
              <a:t>Always mount the flip mirror to flip downwards! </a:t>
            </a:r>
          </a:p>
          <a:p>
            <a:pPr>
              <a:spcBef>
                <a:spcPct val="0"/>
              </a:spcBef>
              <a:spcAft>
                <a:spcPts val="1200"/>
              </a:spcAft>
            </a:pPr>
            <a:endParaRPr lang="en-US" altLang="en-US" b="1" u="sng" dirty="0"/>
          </a:p>
          <a:p>
            <a:pPr>
              <a:spcBef>
                <a:spcPct val="0"/>
              </a:spcBef>
              <a:spcAft>
                <a:spcPts val="1200"/>
              </a:spcAft>
            </a:pPr>
            <a:r>
              <a:rPr lang="en-US" altLang="en-US" b="1" u="sng" dirty="0"/>
              <a:t>Tools</a:t>
            </a:r>
          </a:p>
          <a:p>
            <a:pPr marL="285750" indent="-285750">
              <a:spcAft>
                <a:spcPts val="600"/>
              </a:spcAft>
              <a:buFont typeface="Arial" panose="020B0604020202020204" pitchFamily="34" charset="0"/>
              <a:buChar char="•"/>
            </a:pPr>
            <a:r>
              <a:rPr lang="en-US" altLang="en-US" dirty="0"/>
              <a:t>Laser protective eyewear for 852 nm</a:t>
            </a:r>
          </a:p>
          <a:p>
            <a:pPr marL="285750" indent="-285750">
              <a:spcAft>
                <a:spcPts val="600"/>
              </a:spcAft>
              <a:buFont typeface="Arial" panose="020B0604020202020204" pitchFamily="34" charset="0"/>
              <a:buChar char="•"/>
            </a:pPr>
            <a:r>
              <a:rPr lang="en-US" altLang="en-US" dirty="0"/>
              <a:t>Beam blocks</a:t>
            </a:r>
          </a:p>
          <a:p>
            <a:pPr marL="285750" indent="-285750">
              <a:spcAft>
                <a:spcPts val="600"/>
              </a:spcAft>
              <a:buFont typeface="Arial" panose="020B0604020202020204" pitchFamily="34" charset="0"/>
              <a:buChar char="•"/>
            </a:pPr>
            <a:r>
              <a:rPr lang="en-US" altLang="en-US" dirty="0"/>
              <a:t>Fluorescent cards</a:t>
            </a:r>
          </a:p>
        </p:txBody>
      </p:sp>
      <p:cxnSp>
        <p:nvCxnSpPr>
          <p:cNvPr id="22" name="Straight Connector 21"/>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23" name="Group 22"/>
          <p:cNvGrpSpPr>
            <a:grpSpLocks/>
          </p:cNvGrpSpPr>
          <p:nvPr/>
        </p:nvGrpSpPr>
        <p:grpSpPr bwMode="auto">
          <a:xfrm>
            <a:off x="4581617" y="4059352"/>
            <a:ext cx="4143375" cy="2120900"/>
            <a:chOff x="5000550" y="1921131"/>
            <a:chExt cx="4143450" cy="2121523"/>
          </a:xfrm>
        </p:grpSpPr>
        <p:pic>
          <p:nvPicPr>
            <p:cNvPr id="24" name="Picture 24"/>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15303" y="1921131"/>
              <a:ext cx="2828697" cy="2121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5" name="Straight Connector 24"/>
            <p:cNvCxnSpPr/>
            <p:nvPr/>
          </p:nvCxnSpPr>
          <p:spPr>
            <a:xfrm flipV="1">
              <a:off x="5000550" y="2407338"/>
              <a:ext cx="2434300" cy="1325"/>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rot="10800000" flipV="1">
              <a:off x="6077643" y="2436096"/>
              <a:ext cx="1347707" cy="894096"/>
            </a:xfrm>
            <a:prstGeom prst="line">
              <a:avLst/>
            </a:prstGeom>
            <a:ln>
              <a:solidFill>
                <a:srgbClr val="C70202"/>
              </a:solidFill>
              <a:prstDash val="lgDash"/>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10800000" flipV="1">
              <a:off x="5831425" y="2397221"/>
              <a:ext cx="1671676" cy="453529"/>
            </a:xfrm>
            <a:prstGeom prst="line">
              <a:avLst/>
            </a:prstGeom>
            <a:ln>
              <a:solidFill>
                <a:srgbClr val="C70202"/>
              </a:solidFill>
              <a:prstDash val="lgDash"/>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rot="5400000">
              <a:off x="6369252" y="2572128"/>
              <a:ext cx="1243960" cy="971903"/>
            </a:xfrm>
            <a:prstGeom prst="line">
              <a:avLst/>
            </a:prstGeom>
            <a:ln>
              <a:solidFill>
                <a:srgbClr val="C70202"/>
              </a:solidFill>
              <a:prstDash val="lgDash"/>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sp>
        <p:nvSpPr>
          <p:cNvPr id="13" name="Rectangle 20"/>
          <p:cNvSpPr>
            <a:spLocks noChangeArrowheads="1"/>
          </p:cNvSpPr>
          <p:nvPr/>
        </p:nvSpPr>
        <p:spPr bwMode="auto">
          <a:xfrm>
            <a:off x="-173317" y="803404"/>
            <a:ext cx="826619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Aft>
                <a:spcPts val="1200"/>
              </a:spcAft>
              <a:buNone/>
              <a:tabLst>
                <a:tab pos="1997075" algn="l"/>
              </a:tabLst>
              <a:defRPr/>
            </a:pPr>
            <a:r>
              <a:rPr lang="en-US" sz="1800" dirty="0">
                <a:latin typeface="+mn-lt"/>
                <a:ea typeface="+mn-ea"/>
              </a:rPr>
              <a:t>The following experimental setups are designed to teach one specific skill related to laser hazard commonly encountered in laser laboratories and setups.</a:t>
            </a:r>
          </a:p>
        </p:txBody>
      </p:sp>
    </p:spTree>
    <p:extLst>
      <p:ext uri="{BB962C8B-B14F-4D97-AF65-F5344CB8AC3E}">
        <p14:creationId xmlns:p14="http://schemas.microsoft.com/office/powerpoint/2010/main" val="993371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534" y="77893"/>
            <a:ext cx="8424907" cy="405941"/>
          </a:xfrm>
        </p:spPr>
        <p:txBody>
          <a:bodyPr>
            <a:noAutofit/>
          </a:bodyPr>
          <a:lstStyle/>
          <a:p>
            <a:r>
              <a:rPr lang="en-US" sz="3200" b="1" dirty="0">
                <a:solidFill>
                  <a:schemeClr val="accent5">
                    <a:lumMod val="75000"/>
                  </a:schemeClr>
                </a:solidFill>
              </a:rPr>
              <a:t>IR Beams and Flipper Mirror Setup </a:t>
            </a:r>
          </a:p>
        </p:txBody>
      </p:sp>
      <p:sp>
        <p:nvSpPr>
          <p:cNvPr id="12" name="Slide Number Placeholder 11"/>
          <p:cNvSpPr>
            <a:spLocks noGrp="1"/>
          </p:cNvSpPr>
          <p:nvPr>
            <p:ph type="sldNum" sz="quarter" idx="12"/>
          </p:nvPr>
        </p:nvSpPr>
        <p:spPr/>
        <p:txBody>
          <a:bodyPr/>
          <a:lstStyle/>
          <a:p>
            <a:fld id="{9A8DD42E-82A4-4B2D-82BB-498554518294}" type="slidenum">
              <a:rPr lang="en-US" smtClean="0"/>
              <a:t>8</a:t>
            </a:fld>
            <a:endParaRPr lang="en-US"/>
          </a:p>
        </p:txBody>
      </p:sp>
      <p:sp>
        <p:nvSpPr>
          <p:cNvPr id="14" name="Rectangle 20"/>
          <p:cNvSpPr>
            <a:spLocks noChangeArrowheads="1"/>
          </p:cNvSpPr>
          <p:nvPr/>
        </p:nvSpPr>
        <p:spPr bwMode="auto">
          <a:xfrm>
            <a:off x="198875" y="3165923"/>
            <a:ext cx="8744468"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400"/>
              </a:spcAft>
              <a:buNone/>
            </a:pPr>
            <a:r>
              <a:rPr lang="en-US" altLang="en-US" sz="1200" b="1" u="sng" dirty="0"/>
              <a:t>TASKS:</a:t>
            </a:r>
          </a:p>
          <a:p>
            <a:pPr marL="635000" indent="-342900">
              <a:spcBef>
                <a:spcPct val="0"/>
              </a:spcBef>
              <a:spcAft>
                <a:spcPts val="400"/>
              </a:spcAft>
              <a:buFontTx/>
              <a:buAutoNum type="arabicPeriod"/>
            </a:pPr>
            <a:r>
              <a:rPr lang="en-US" altLang="en-US" sz="1200" dirty="0"/>
              <a:t>Start with the laser beam blocked or disabled. Remove the flipper mirror and the lenses mounts if in place. </a:t>
            </a:r>
          </a:p>
          <a:p>
            <a:pPr marL="635000" indent="-342900">
              <a:spcBef>
                <a:spcPct val="0"/>
              </a:spcBef>
              <a:spcAft>
                <a:spcPts val="400"/>
              </a:spcAft>
              <a:buFontTx/>
              <a:buAutoNum type="arabicPeriod"/>
            </a:pPr>
            <a:r>
              <a:rPr lang="en-US" altLang="en-US" sz="1200" dirty="0"/>
              <a:t>Position a beam block at front of the first lens. Close the irises.</a:t>
            </a:r>
          </a:p>
          <a:p>
            <a:pPr marL="635000" indent="-342900">
              <a:spcBef>
                <a:spcPct val="0"/>
              </a:spcBef>
              <a:spcAft>
                <a:spcPts val="400"/>
              </a:spcAft>
              <a:buFontTx/>
              <a:buAutoNum type="arabicPeriod"/>
            </a:pPr>
            <a:r>
              <a:rPr lang="en-US" altLang="en-US" sz="1200" dirty="0"/>
              <a:t>Put on the appropriate laser protection goggles.</a:t>
            </a:r>
          </a:p>
          <a:p>
            <a:pPr marL="635000" indent="-342900">
              <a:spcBef>
                <a:spcPct val="0"/>
              </a:spcBef>
              <a:spcAft>
                <a:spcPts val="400"/>
              </a:spcAft>
              <a:buFontTx/>
              <a:buAutoNum type="arabicPeriod"/>
            </a:pPr>
            <a:r>
              <a:rPr lang="en-US" altLang="en-US" sz="1200" dirty="0"/>
              <a:t>Enable the IR laser. Holding a card on top of the mirror, adjust the laser such as the beam is on the Mirror 1. Remove the card. Block the beam at the laser, place beam blocks behind the first and second irises. </a:t>
            </a:r>
          </a:p>
          <a:p>
            <a:pPr marL="635000" indent="-342900">
              <a:spcBef>
                <a:spcPct val="0"/>
              </a:spcBef>
              <a:spcAft>
                <a:spcPts val="400"/>
              </a:spcAft>
              <a:buFontTx/>
              <a:buAutoNum type="arabicPeriod"/>
            </a:pPr>
            <a:r>
              <a:rPr lang="en-US" altLang="en-US" sz="1200" dirty="0"/>
              <a:t>Open the beam, align it to be centered on the closed first iris. </a:t>
            </a:r>
          </a:p>
          <a:p>
            <a:pPr marL="635000" indent="-342900">
              <a:spcBef>
                <a:spcPct val="0"/>
              </a:spcBef>
              <a:spcAft>
                <a:spcPts val="400"/>
              </a:spcAft>
              <a:buFontTx/>
              <a:buAutoNum type="arabicPeriod"/>
            </a:pPr>
            <a:r>
              <a:rPr lang="en-US" altLang="en-US" sz="1200" dirty="0"/>
              <a:t>Block the beam. Open the first iris, open the beam and center the beam on the second iris. </a:t>
            </a:r>
          </a:p>
          <a:p>
            <a:pPr marL="635000" indent="-342900">
              <a:spcBef>
                <a:spcPct val="0"/>
              </a:spcBef>
              <a:spcAft>
                <a:spcPts val="400"/>
              </a:spcAft>
              <a:buFontTx/>
              <a:buAutoNum type="arabicPeriod"/>
            </a:pPr>
            <a:r>
              <a:rPr lang="en-US" altLang="en-US" sz="1200" dirty="0"/>
              <a:t>Proceed aligning the beam to Mirror 2 and Mirror 3 to final target on beam block using the safety skills learned in previously such as walking the beam from optic to optic with a card. Now you have the beam aligned. </a:t>
            </a:r>
          </a:p>
          <a:p>
            <a:pPr marL="635000" indent="-342900">
              <a:spcBef>
                <a:spcPct val="0"/>
              </a:spcBef>
              <a:spcAft>
                <a:spcPts val="400"/>
              </a:spcAft>
              <a:buFontTx/>
              <a:buAutoNum type="arabicPeriod"/>
            </a:pPr>
            <a:r>
              <a:rPr lang="en-US" altLang="en-US" sz="1200" dirty="0"/>
              <a:t>Block the beam. Insert the flipper mirror in its mount. Place a beam block behind it. </a:t>
            </a:r>
          </a:p>
          <a:p>
            <a:pPr marL="635000" indent="-342900">
              <a:spcBef>
                <a:spcPct val="0"/>
              </a:spcBef>
              <a:spcAft>
                <a:spcPts val="400"/>
              </a:spcAft>
              <a:buFontTx/>
              <a:buAutoNum type="arabicPeriod"/>
            </a:pPr>
            <a:r>
              <a:rPr lang="en-US" altLang="en-US" sz="1200" dirty="0"/>
              <a:t>Open the beam and align the beam so the beam reflection is redirected toward the beam block by the perimeter guard..</a:t>
            </a:r>
          </a:p>
          <a:p>
            <a:pPr marL="635000" indent="-342900">
              <a:spcBef>
                <a:spcPct val="0"/>
              </a:spcBef>
              <a:spcAft>
                <a:spcPts val="400"/>
              </a:spcAft>
              <a:buFontTx/>
              <a:buAutoNum type="arabicPeriod"/>
            </a:pPr>
            <a:r>
              <a:rPr lang="en-US" altLang="en-US" sz="1200" dirty="0"/>
              <a:t>Always flip the mirror when the beam is blocked!</a:t>
            </a:r>
          </a:p>
          <a:p>
            <a:pPr marL="635000" indent="-342900">
              <a:spcBef>
                <a:spcPct val="0"/>
              </a:spcBef>
              <a:spcAft>
                <a:spcPts val="400"/>
              </a:spcAft>
              <a:buFontTx/>
              <a:buAutoNum type="arabicPeriod"/>
            </a:pPr>
            <a:r>
              <a:rPr lang="en-US" altLang="en-US" sz="1200" dirty="0"/>
              <a:t>With the goggles on, use the IR viewer and verify all beams, including reflected or stray beams, are contained.</a:t>
            </a:r>
          </a:p>
          <a:p>
            <a:pPr marL="635000" indent="-342900">
              <a:spcBef>
                <a:spcPct val="0"/>
              </a:spcBef>
              <a:spcAft>
                <a:spcPts val="400"/>
              </a:spcAft>
              <a:buFontTx/>
              <a:buAutoNum type="arabicPeriod"/>
            </a:pPr>
            <a:r>
              <a:rPr lang="en-US" altLang="en-US" sz="1200" dirty="0"/>
              <a:t>Block the laser or turn it off.</a:t>
            </a:r>
          </a:p>
        </p:txBody>
      </p:sp>
      <p:sp>
        <p:nvSpPr>
          <p:cNvPr id="7" name="Rectangle 6"/>
          <p:cNvSpPr/>
          <p:nvPr/>
        </p:nvSpPr>
        <p:spPr>
          <a:xfrm>
            <a:off x="3651795" y="578948"/>
            <a:ext cx="1267142" cy="276999"/>
          </a:xfrm>
          <a:prstGeom prst="rect">
            <a:avLst/>
          </a:prstGeom>
        </p:spPr>
        <p:txBody>
          <a:bodyPr wrap="none">
            <a:spAutoFit/>
          </a:bodyPr>
          <a:lstStyle/>
          <a:p>
            <a:pPr>
              <a:spcBef>
                <a:spcPct val="0"/>
              </a:spcBef>
              <a:spcAft>
                <a:spcPts val="1200"/>
              </a:spcAft>
            </a:pPr>
            <a:r>
              <a:rPr lang="en-US" altLang="en-US" sz="1200" b="1" u="sng" dirty="0"/>
              <a:t>OPTICAL LAYOUT</a:t>
            </a:r>
          </a:p>
        </p:txBody>
      </p:sp>
      <p:cxnSp>
        <p:nvCxnSpPr>
          <p:cNvPr id="62" name="Straight Connector 61"/>
          <p:cNvCxnSpPr/>
          <p:nvPr/>
        </p:nvCxnSpPr>
        <p:spPr>
          <a:xfrm>
            <a:off x="90353" y="558613"/>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735789" y="796877"/>
            <a:ext cx="7577716" cy="2321263"/>
            <a:chOff x="735789" y="796877"/>
            <a:chExt cx="7577716" cy="2321263"/>
          </a:xfrm>
        </p:grpSpPr>
        <p:grpSp>
          <p:nvGrpSpPr>
            <p:cNvPr id="11" name="Group 10"/>
            <p:cNvGrpSpPr/>
            <p:nvPr/>
          </p:nvGrpSpPr>
          <p:grpSpPr>
            <a:xfrm>
              <a:off x="735789" y="796877"/>
              <a:ext cx="7577716" cy="2321263"/>
              <a:chOff x="579176" y="1237688"/>
              <a:chExt cx="7932721" cy="2550528"/>
            </a:xfrm>
          </p:grpSpPr>
          <p:sp>
            <p:nvSpPr>
              <p:cNvPr id="196" name="TextBox 195"/>
              <p:cNvSpPr txBox="1">
                <a:spLocks noChangeArrowheads="1"/>
              </p:cNvSpPr>
              <p:nvPr/>
            </p:nvSpPr>
            <p:spPr bwMode="auto">
              <a:xfrm>
                <a:off x="5666458" y="1409856"/>
                <a:ext cx="906711" cy="264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b="1" dirty="0"/>
                  <a:t>IRIS</a:t>
                </a:r>
              </a:p>
            </p:txBody>
          </p:sp>
          <p:grpSp>
            <p:nvGrpSpPr>
              <p:cNvPr id="10" name="Group 9"/>
              <p:cNvGrpSpPr/>
              <p:nvPr/>
            </p:nvGrpSpPr>
            <p:grpSpPr>
              <a:xfrm>
                <a:off x="579176" y="1237688"/>
                <a:ext cx="7932721" cy="2550528"/>
                <a:chOff x="579176" y="1273945"/>
                <a:chExt cx="7932721" cy="2550528"/>
              </a:xfrm>
            </p:grpSpPr>
            <p:grpSp>
              <p:nvGrpSpPr>
                <p:cNvPr id="182" name="Group 21"/>
                <p:cNvGrpSpPr>
                  <a:grpSpLocks/>
                </p:cNvGrpSpPr>
                <p:nvPr/>
              </p:nvGrpSpPr>
              <p:grpSpPr bwMode="auto">
                <a:xfrm>
                  <a:off x="6277056" y="1553347"/>
                  <a:ext cx="152400" cy="609600"/>
                  <a:chOff x="1968" y="2448"/>
                  <a:chExt cx="192" cy="384"/>
                </a:xfrm>
              </p:grpSpPr>
              <p:grpSp>
                <p:nvGrpSpPr>
                  <p:cNvPr id="183" name="Group 22"/>
                  <p:cNvGrpSpPr>
                    <a:grpSpLocks/>
                  </p:cNvGrpSpPr>
                  <p:nvPr/>
                </p:nvGrpSpPr>
                <p:grpSpPr bwMode="auto">
                  <a:xfrm>
                    <a:off x="1968" y="2448"/>
                    <a:ext cx="192" cy="144"/>
                    <a:chOff x="1968" y="2448"/>
                    <a:chExt cx="192" cy="144"/>
                  </a:xfrm>
                </p:grpSpPr>
                <p:sp>
                  <p:nvSpPr>
                    <p:cNvPr id="187"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4" name="Group 25"/>
                  <p:cNvGrpSpPr>
                    <a:grpSpLocks/>
                  </p:cNvGrpSpPr>
                  <p:nvPr/>
                </p:nvGrpSpPr>
                <p:grpSpPr bwMode="auto">
                  <a:xfrm rot="10800000">
                    <a:off x="1968" y="2688"/>
                    <a:ext cx="192" cy="144"/>
                    <a:chOff x="1968" y="2448"/>
                    <a:chExt cx="192" cy="144"/>
                  </a:xfrm>
                </p:grpSpPr>
                <p:sp>
                  <p:nvSpPr>
                    <p:cNvPr id="185"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9" name="Group 21"/>
                <p:cNvGrpSpPr>
                  <a:grpSpLocks/>
                </p:cNvGrpSpPr>
                <p:nvPr/>
              </p:nvGrpSpPr>
              <p:grpSpPr bwMode="auto">
                <a:xfrm>
                  <a:off x="2354000" y="1618378"/>
                  <a:ext cx="152400" cy="609600"/>
                  <a:chOff x="1968" y="2448"/>
                  <a:chExt cx="192" cy="384"/>
                </a:xfrm>
              </p:grpSpPr>
              <p:grpSp>
                <p:nvGrpSpPr>
                  <p:cNvPr id="190" name="Group 22"/>
                  <p:cNvGrpSpPr>
                    <a:grpSpLocks/>
                  </p:cNvGrpSpPr>
                  <p:nvPr/>
                </p:nvGrpSpPr>
                <p:grpSpPr bwMode="auto">
                  <a:xfrm>
                    <a:off x="1968" y="2448"/>
                    <a:ext cx="192" cy="144"/>
                    <a:chOff x="1968" y="2448"/>
                    <a:chExt cx="192" cy="144"/>
                  </a:xfrm>
                </p:grpSpPr>
                <p:sp>
                  <p:nvSpPr>
                    <p:cNvPr id="194"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1" name="Group 25"/>
                  <p:cNvGrpSpPr>
                    <a:grpSpLocks/>
                  </p:cNvGrpSpPr>
                  <p:nvPr/>
                </p:nvGrpSpPr>
                <p:grpSpPr bwMode="auto">
                  <a:xfrm rot="10800000">
                    <a:off x="1968" y="2688"/>
                    <a:ext cx="192" cy="144"/>
                    <a:chOff x="1968" y="2448"/>
                    <a:chExt cx="192" cy="144"/>
                  </a:xfrm>
                </p:grpSpPr>
                <p:sp>
                  <p:nvSpPr>
                    <p:cNvPr id="192"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52" name="Group 51"/>
                <p:cNvGrpSpPr/>
                <p:nvPr/>
              </p:nvGrpSpPr>
              <p:grpSpPr>
                <a:xfrm>
                  <a:off x="579176" y="1273945"/>
                  <a:ext cx="7932721" cy="2550528"/>
                  <a:chOff x="240381" y="661960"/>
                  <a:chExt cx="7932721" cy="2820266"/>
                </a:xfrm>
              </p:grpSpPr>
              <p:sp>
                <p:nvSpPr>
                  <p:cNvPr id="53" name="TextBox 77"/>
                  <p:cNvSpPr txBox="1">
                    <a:spLocks noChangeArrowheads="1"/>
                  </p:cNvSpPr>
                  <p:nvPr/>
                </p:nvSpPr>
                <p:spPr bwMode="auto">
                  <a:xfrm>
                    <a:off x="4999837" y="2720443"/>
                    <a:ext cx="6917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sp>
                <p:nvSpPr>
                  <p:cNvPr id="55" name="Freeform 54"/>
                  <p:cNvSpPr/>
                  <p:nvPr/>
                </p:nvSpPr>
                <p:spPr bwMode="auto">
                  <a:xfrm rot="5400000" flipH="1" flipV="1">
                    <a:off x="5514855" y="2695683"/>
                    <a:ext cx="189839" cy="349894"/>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nvGrpSpPr>
                  <p:cNvPr id="58" name="Group 57"/>
                  <p:cNvGrpSpPr/>
                  <p:nvPr/>
                </p:nvGrpSpPr>
                <p:grpSpPr>
                  <a:xfrm>
                    <a:off x="240381" y="661960"/>
                    <a:ext cx="7932721" cy="2820266"/>
                    <a:chOff x="361150" y="1102088"/>
                    <a:chExt cx="7932721" cy="2820266"/>
                  </a:xfrm>
                </p:grpSpPr>
                <p:grpSp>
                  <p:nvGrpSpPr>
                    <p:cNvPr id="59" name="Group 58"/>
                    <p:cNvGrpSpPr/>
                    <p:nvPr/>
                  </p:nvGrpSpPr>
                  <p:grpSpPr>
                    <a:xfrm>
                      <a:off x="361150" y="1304643"/>
                      <a:ext cx="7932721" cy="2617711"/>
                      <a:chOff x="295862" y="1379873"/>
                      <a:chExt cx="7932721" cy="2617711"/>
                    </a:xfrm>
                  </p:grpSpPr>
                  <p:sp>
                    <p:nvSpPr>
                      <p:cNvPr id="65" name="TextBox 80"/>
                      <p:cNvSpPr txBox="1">
                        <a:spLocks noChangeArrowheads="1"/>
                      </p:cNvSpPr>
                      <p:nvPr/>
                    </p:nvSpPr>
                    <p:spPr bwMode="auto">
                      <a:xfrm>
                        <a:off x="295862" y="2114064"/>
                        <a:ext cx="8903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MIRROR 1</a:t>
                        </a:r>
                        <a:endParaRPr lang="en-US" altLang="en-US" sz="1200" dirty="0"/>
                      </a:p>
                    </p:txBody>
                  </p:sp>
                  <p:grpSp>
                    <p:nvGrpSpPr>
                      <p:cNvPr id="67" name="Group 66"/>
                      <p:cNvGrpSpPr/>
                      <p:nvPr/>
                    </p:nvGrpSpPr>
                    <p:grpSpPr>
                      <a:xfrm>
                        <a:off x="934816" y="1379873"/>
                        <a:ext cx="7293767" cy="2617711"/>
                        <a:chOff x="198464" y="956894"/>
                        <a:chExt cx="7293767" cy="2617711"/>
                      </a:xfrm>
                    </p:grpSpPr>
                    <p:cxnSp>
                      <p:nvCxnSpPr>
                        <p:cNvPr id="68" name="Straight Arrow Connector 67"/>
                        <p:cNvCxnSpPr>
                          <a:stCxn id="86" idx="2"/>
                        </p:cNvCxnSpPr>
                        <p:nvPr/>
                      </p:nvCxnSpPr>
                      <p:spPr>
                        <a:xfrm>
                          <a:off x="6129349" y="1409556"/>
                          <a:ext cx="9931" cy="13849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9" name="Group 1"/>
                        <p:cNvGrpSpPr>
                          <a:grpSpLocks/>
                        </p:cNvGrpSpPr>
                        <p:nvPr/>
                      </p:nvGrpSpPr>
                      <p:grpSpPr bwMode="auto">
                        <a:xfrm>
                          <a:off x="198464" y="956894"/>
                          <a:ext cx="7293767" cy="2617711"/>
                          <a:chOff x="-165444" y="3432645"/>
                          <a:chExt cx="6397863" cy="2736644"/>
                        </a:xfrm>
                      </p:grpSpPr>
                      <p:sp>
                        <p:nvSpPr>
                          <p:cNvPr id="92" name="Rectangle 91"/>
                          <p:cNvSpPr>
                            <a:spLocks noChangeArrowheads="1"/>
                          </p:cNvSpPr>
                          <p:nvPr/>
                        </p:nvSpPr>
                        <p:spPr bwMode="auto">
                          <a:xfrm rot="2677687">
                            <a:off x="398286" y="3617160"/>
                            <a:ext cx="144713" cy="621014"/>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cxnSp>
                        <p:nvCxnSpPr>
                          <p:cNvPr id="93" name="Straight Connector 68"/>
                          <p:cNvCxnSpPr>
                            <a:cxnSpLocks noChangeShapeType="1"/>
                          </p:cNvCxnSpPr>
                          <p:nvPr/>
                        </p:nvCxnSpPr>
                        <p:spPr bwMode="auto">
                          <a:xfrm>
                            <a:off x="4219087" y="5066737"/>
                            <a:ext cx="17507" cy="652380"/>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94" name="TextBox 93"/>
                          <p:cNvSpPr txBox="1">
                            <a:spLocks noChangeArrowheads="1"/>
                          </p:cNvSpPr>
                          <p:nvPr/>
                        </p:nvSpPr>
                        <p:spPr bwMode="auto">
                          <a:xfrm>
                            <a:off x="752231" y="3432645"/>
                            <a:ext cx="7953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b="1" dirty="0"/>
                              <a:t>IRIS</a:t>
                            </a:r>
                          </a:p>
                        </p:txBody>
                      </p:sp>
                      <p:sp>
                        <p:nvSpPr>
                          <p:cNvPr id="95" name="TextBox 75"/>
                          <p:cNvSpPr txBox="1">
                            <a:spLocks noChangeArrowheads="1"/>
                          </p:cNvSpPr>
                          <p:nvPr/>
                        </p:nvSpPr>
                        <p:spPr bwMode="auto">
                          <a:xfrm>
                            <a:off x="5413836" y="5382749"/>
                            <a:ext cx="818583" cy="28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r" eaLnBrk="1" hangingPunct="1">
                              <a:spcBef>
                                <a:spcPct val="0"/>
                              </a:spcBef>
                              <a:buFontTx/>
                              <a:buNone/>
                            </a:pPr>
                            <a:r>
                              <a:rPr lang="en-US" altLang="en-US" sz="1200" b="1" dirty="0"/>
                              <a:t>MIRROR 3</a:t>
                            </a:r>
                            <a:endParaRPr lang="en-US" altLang="en-US" sz="1200" dirty="0"/>
                          </a:p>
                        </p:txBody>
                      </p:sp>
                      <p:sp>
                        <p:nvSpPr>
                          <p:cNvPr id="96" name="Freeform 95"/>
                          <p:cNvSpPr/>
                          <p:nvPr/>
                        </p:nvSpPr>
                        <p:spPr>
                          <a:xfrm rot="5400000" flipH="1">
                            <a:off x="5323790" y="5408147"/>
                            <a:ext cx="195960" cy="46320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97" name="Freeform 96"/>
                          <p:cNvSpPr/>
                          <p:nvPr/>
                        </p:nvSpPr>
                        <p:spPr>
                          <a:xfrm rot="5400000" flipH="1" flipV="1">
                            <a:off x="-3403" y="4036154"/>
                            <a:ext cx="79824" cy="403906"/>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98" name="TextBox 79"/>
                          <p:cNvSpPr txBox="1">
                            <a:spLocks noChangeArrowheads="1"/>
                          </p:cNvSpPr>
                          <p:nvPr/>
                        </p:nvSpPr>
                        <p:spPr bwMode="auto">
                          <a:xfrm>
                            <a:off x="674999" y="5817453"/>
                            <a:ext cx="1227137" cy="351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3.8 mW, 850 nm</a:t>
                            </a:r>
                            <a:endParaRPr lang="en-US" altLang="en-US" sz="1200" dirty="0"/>
                          </a:p>
                        </p:txBody>
                      </p:sp>
                      <p:sp>
                        <p:nvSpPr>
                          <p:cNvPr id="99" name="Rectangle 98"/>
                          <p:cNvSpPr>
                            <a:spLocks noChangeArrowheads="1"/>
                          </p:cNvSpPr>
                          <p:nvPr/>
                        </p:nvSpPr>
                        <p:spPr bwMode="auto">
                          <a:xfrm rot="16200000">
                            <a:off x="128786" y="5458258"/>
                            <a:ext cx="827507" cy="311921"/>
                          </a:xfrm>
                          <a:prstGeom prst="rect">
                            <a:avLst/>
                          </a:prstGeom>
                          <a:solidFill>
                            <a:schemeClr val="accent1">
                              <a:lumMod val="60000"/>
                              <a:lumOff val="40000"/>
                            </a:schemeClr>
                          </a:solidFill>
                          <a:ln w="9525">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r>
                              <a:rPr lang="en-US" sz="1000" b="1" cap="small" dirty="0"/>
                              <a:t>IR Diode Laser</a:t>
                            </a:r>
                          </a:p>
                        </p:txBody>
                      </p:sp>
                    </p:grpSp>
                    <p:cxnSp>
                      <p:nvCxnSpPr>
                        <p:cNvPr id="71" name="Straight Arrow Connector 70"/>
                        <p:cNvCxnSpPr>
                          <a:stCxn id="99" idx="3"/>
                          <a:endCxn id="92" idx="3"/>
                        </p:cNvCxnSpPr>
                        <p:nvPr/>
                      </p:nvCxnSpPr>
                      <p:spPr>
                        <a:xfrm flipH="1" flipV="1">
                          <a:off x="982328" y="1488350"/>
                          <a:ext cx="23260" cy="11595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4" name="Freeform 73"/>
                        <p:cNvSpPr/>
                        <p:nvPr/>
                      </p:nvSpPr>
                      <p:spPr bwMode="auto">
                        <a:xfrm rot="5400000">
                          <a:off x="6429961" y="925388"/>
                          <a:ext cx="156214" cy="558245"/>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cxnSp>
                      <p:nvCxnSpPr>
                        <p:cNvPr id="80" name="Straight Arrow Connector 79"/>
                        <p:cNvCxnSpPr/>
                        <p:nvPr/>
                      </p:nvCxnSpPr>
                      <p:spPr>
                        <a:xfrm flipV="1">
                          <a:off x="1000998" y="1400606"/>
                          <a:ext cx="5147022" cy="7879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p:cNvSpPr>
                          <a:spLocks noChangeArrowheads="1"/>
                        </p:cNvSpPr>
                        <p:nvPr/>
                      </p:nvSpPr>
                      <p:spPr bwMode="auto">
                        <a:xfrm rot="2677687">
                          <a:off x="6139742" y="2545517"/>
                          <a:ext cx="164977" cy="621014"/>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86" name="Rectangle 85"/>
                        <p:cNvSpPr>
                          <a:spLocks noChangeArrowheads="1"/>
                        </p:cNvSpPr>
                        <p:nvPr/>
                      </p:nvSpPr>
                      <p:spPr bwMode="auto">
                        <a:xfrm rot="2677687">
                          <a:off x="5893334" y="1253329"/>
                          <a:ext cx="600265" cy="182542"/>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cxnSp>
                      <p:nvCxnSpPr>
                        <p:cNvPr id="87" name="Straight Arrow Connector 86"/>
                        <p:cNvCxnSpPr/>
                        <p:nvPr/>
                      </p:nvCxnSpPr>
                      <p:spPr>
                        <a:xfrm flipH="1">
                          <a:off x="5228804" y="2790551"/>
                          <a:ext cx="919216" cy="3271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75"/>
                        <p:cNvSpPr txBox="1">
                          <a:spLocks noChangeArrowheads="1"/>
                        </p:cNvSpPr>
                        <p:nvPr/>
                      </p:nvSpPr>
                      <p:spPr bwMode="auto">
                        <a:xfrm>
                          <a:off x="6478756" y="1091207"/>
                          <a:ext cx="933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r" eaLnBrk="1" hangingPunct="1">
                            <a:spcBef>
                              <a:spcPct val="0"/>
                            </a:spcBef>
                            <a:buFontTx/>
                            <a:buNone/>
                          </a:pPr>
                          <a:r>
                            <a:rPr lang="en-US" altLang="en-US" sz="1200" b="1" dirty="0"/>
                            <a:t>MIRROR 2</a:t>
                          </a:r>
                          <a:endParaRPr lang="en-US" altLang="en-US" sz="1200" dirty="0"/>
                        </a:p>
                      </p:txBody>
                    </p:sp>
                  </p:grpSp>
                </p:grpSp>
                <p:cxnSp>
                  <p:nvCxnSpPr>
                    <p:cNvPr id="60" name="Straight Connector 68"/>
                    <p:cNvCxnSpPr>
                      <a:cxnSpLocks noChangeShapeType="1"/>
                    </p:cNvCxnSpPr>
                    <p:nvPr/>
                  </p:nvCxnSpPr>
                  <p:spPr bwMode="auto">
                    <a:xfrm flipV="1">
                      <a:off x="1432710" y="1102088"/>
                      <a:ext cx="1652565" cy="17048"/>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61" name="TextBox 77"/>
                    <p:cNvSpPr txBox="1">
                      <a:spLocks noChangeArrowheads="1"/>
                    </p:cNvSpPr>
                    <p:nvPr/>
                  </p:nvSpPr>
                  <p:spPr bwMode="auto">
                    <a:xfrm>
                      <a:off x="447027" y="1239531"/>
                      <a:ext cx="6917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sp>
                  <p:nvSpPr>
                    <p:cNvPr id="64" name="Freeform 63"/>
                    <p:cNvSpPr/>
                    <p:nvPr/>
                  </p:nvSpPr>
                  <p:spPr bwMode="auto">
                    <a:xfrm rot="5400000" flipH="1" flipV="1">
                      <a:off x="1178862" y="991203"/>
                      <a:ext cx="247975" cy="744631"/>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grpSp>
          </p:grpSp>
        </p:grpSp>
        <p:sp>
          <p:nvSpPr>
            <p:cNvPr id="57" name="TextBox 80"/>
            <p:cNvSpPr txBox="1">
              <a:spLocks noChangeArrowheads="1"/>
            </p:cNvSpPr>
            <p:nvPr/>
          </p:nvSpPr>
          <p:spPr bwMode="auto">
            <a:xfrm>
              <a:off x="4226930" y="1486542"/>
              <a:ext cx="8761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FLIPPER MIRROR ASSEMBLY</a:t>
              </a:r>
              <a:endParaRPr lang="en-US" altLang="en-US" sz="1200" dirty="0"/>
            </a:p>
          </p:txBody>
        </p:sp>
        <p:sp>
          <p:nvSpPr>
            <p:cNvPr id="63" name="Freeform 62"/>
            <p:cNvSpPr/>
            <p:nvPr/>
          </p:nvSpPr>
          <p:spPr bwMode="auto">
            <a:xfrm rot="5400000" flipH="1">
              <a:off x="4001524" y="1373262"/>
              <a:ext cx="208027" cy="530866"/>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nvGrpSpPr>
            <p:cNvPr id="6" name="Group 5"/>
            <p:cNvGrpSpPr/>
            <p:nvPr/>
          </p:nvGrpSpPr>
          <p:grpSpPr>
            <a:xfrm>
              <a:off x="3752908" y="1136801"/>
              <a:ext cx="475978" cy="415925"/>
              <a:chOff x="3754701" y="1040152"/>
              <a:chExt cx="475978" cy="415925"/>
            </a:xfrm>
          </p:grpSpPr>
          <p:sp>
            <p:nvSpPr>
              <p:cNvPr id="66" name="Rectangle 65"/>
              <p:cNvSpPr>
                <a:spLocks noChangeArrowheads="1"/>
              </p:cNvSpPr>
              <p:nvPr/>
            </p:nvSpPr>
            <p:spPr bwMode="auto">
              <a:xfrm rot="2677687">
                <a:off x="3799946" y="1040152"/>
                <a:ext cx="139354" cy="415925"/>
              </a:xfrm>
              <a:prstGeom prst="rect">
                <a:avLst/>
              </a:prstGeom>
              <a:solidFill>
                <a:srgbClr val="7F7F7F"/>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69" name="Rectangle 68"/>
              <p:cNvSpPr>
                <a:spLocks noChangeArrowheads="1"/>
              </p:cNvSpPr>
              <p:nvPr/>
            </p:nvSpPr>
            <p:spPr bwMode="auto">
              <a:xfrm rot="5400000">
                <a:off x="3931571" y="1142681"/>
                <a:ext cx="122238" cy="475978"/>
              </a:xfrm>
              <a:prstGeom prst="rect">
                <a:avLst/>
              </a:prstGeom>
              <a:solidFill>
                <a:srgbClr val="7F7F7F">
                  <a:alpha val="25098"/>
                </a:srgbClr>
              </a:solidFill>
              <a:ln w="12700">
                <a:solidFill>
                  <a:schemeClr val="tx1"/>
                </a:solidFill>
                <a:prstDash val="sysDot"/>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grpSp>
        <p:cxnSp>
          <p:nvCxnSpPr>
            <p:cNvPr id="13" name="Straight Arrow Connector 12"/>
            <p:cNvCxnSpPr/>
            <p:nvPr/>
          </p:nvCxnSpPr>
          <p:spPr>
            <a:xfrm flipH="1" flipV="1">
              <a:off x="3027287" y="855948"/>
              <a:ext cx="676146" cy="50527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6932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796014" cy="926123"/>
          </a:xfrm>
        </p:spPr>
        <p:txBody>
          <a:bodyPr>
            <a:noAutofit/>
          </a:bodyPr>
          <a:lstStyle/>
          <a:p>
            <a:r>
              <a:rPr lang="en-US" sz="3200" b="1" dirty="0">
                <a:solidFill>
                  <a:schemeClr val="accent5">
                    <a:lumMod val="75000"/>
                  </a:schemeClr>
                </a:solidFill>
              </a:rPr>
              <a:t>Exercise # 4. IR Beams and Telescope Alignment</a:t>
            </a:r>
          </a:p>
        </p:txBody>
      </p:sp>
      <p:sp>
        <p:nvSpPr>
          <p:cNvPr id="67" name="Slide Number Placeholder 66"/>
          <p:cNvSpPr>
            <a:spLocks noGrp="1"/>
          </p:cNvSpPr>
          <p:nvPr>
            <p:ph type="sldNum" sz="quarter" idx="12"/>
          </p:nvPr>
        </p:nvSpPr>
        <p:spPr/>
        <p:txBody>
          <a:bodyPr/>
          <a:lstStyle/>
          <a:p>
            <a:fld id="{9A8DD42E-82A4-4B2D-82BB-498554518294}" type="slidenum">
              <a:rPr lang="en-US" smtClean="0"/>
              <a:t>9</a:t>
            </a:fld>
            <a:endParaRPr lang="en-US" dirty="0"/>
          </a:p>
        </p:txBody>
      </p:sp>
      <p:sp>
        <p:nvSpPr>
          <p:cNvPr id="14" name="Rectangle 20"/>
          <p:cNvSpPr>
            <a:spLocks noChangeArrowheads="1"/>
          </p:cNvSpPr>
          <p:nvPr/>
        </p:nvSpPr>
        <p:spPr bwMode="auto">
          <a:xfrm>
            <a:off x="0" y="765647"/>
            <a:ext cx="8266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Aft>
                <a:spcPts val="1200"/>
              </a:spcAft>
              <a:buNone/>
              <a:tabLst>
                <a:tab pos="1997075" algn="l"/>
              </a:tabLst>
              <a:defRPr/>
            </a:pPr>
            <a:r>
              <a:rPr lang="en-US" sz="1800" dirty="0">
                <a:solidFill>
                  <a:schemeClr val="accent5">
                    <a:lumMod val="75000"/>
                  </a:schemeClr>
                </a:solidFill>
                <a:latin typeface="+mn-lt"/>
                <a:ea typeface="+mn-ea"/>
              </a:rPr>
              <a:t>Maximum time for completing the exercise: </a:t>
            </a:r>
            <a:r>
              <a:rPr lang="en-US" sz="1800" dirty="0">
                <a:solidFill>
                  <a:schemeClr val="accent5">
                    <a:lumMod val="75000"/>
                  </a:schemeClr>
                </a:solidFill>
                <a:latin typeface="+mn-lt"/>
                <a:ea typeface="ＭＳ Ｐゴシック" charset="-128"/>
              </a:rPr>
              <a:t>15 minutes</a:t>
            </a:r>
            <a:endParaRPr lang="en-US" altLang="en-US" sz="1800" dirty="0">
              <a:solidFill>
                <a:schemeClr val="accent5">
                  <a:lumMod val="75000"/>
                </a:schemeClr>
              </a:solidFill>
              <a:latin typeface="+mn-lt"/>
              <a:ea typeface="+mn-ea"/>
            </a:endParaRPr>
          </a:p>
        </p:txBody>
      </p:sp>
      <p:sp>
        <p:nvSpPr>
          <p:cNvPr id="68" name="Rectangle 67"/>
          <p:cNvSpPr/>
          <p:nvPr/>
        </p:nvSpPr>
        <p:spPr>
          <a:xfrm>
            <a:off x="336254" y="1174331"/>
            <a:ext cx="8459760" cy="5524589"/>
          </a:xfrm>
          <a:prstGeom prst="rect">
            <a:avLst/>
          </a:prstGeom>
          <a:ln w="19050">
            <a:noFill/>
          </a:ln>
        </p:spPr>
        <p:style>
          <a:lnRef idx="1">
            <a:schemeClr val="accent1"/>
          </a:lnRef>
          <a:fillRef idx="0">
            <a:schemeClr val="accent1"/>
          </a:fillRef>
          <a:effectRef idx="0">
            <a:schemeClr val="accent1"/>
          </a:effectRef>
          <a:fontRef idx="minor">
            <a:schemeClr val="tx1"/>
          </a:fontRef>
        </p:style>
        <p:txBody>
          <a:bodyPr wrap="square">
            <a:spAutoFit/>
          </a:bodyPr>
          <a:lstStyle/>
          <a:p>
            <a:pPr>
              <a:spcBef>
                <a:spcPct val="0"/>
              </a:spcBef>
              <a:spcAft>
                <a:spcPts val="1200"/>
              </a:spcAft>
              <a:buNone/>
            </a:pPr>
            <a:r>
              <a:rPr lang="en-US" altLang="en-US" b="1" u="sng" dirty="0"/>
              <a:t>Overview</a:t>
            </a:r>
          </a:p>
          <a:p>
            <a:pPr>
              <a:spcBef>
                <a:spcPct val="0"/>
              </a:spcBef>
              <a:spcAft>
                <a:spcPts val="1200"/>
              </a:spcAft>
            </a:pPr>
            <a:r>
              <a:rPr lang="en-US" altLang="en-US" dirty="0"/>
              <a:t>The alignment and manipulation of IR beams pose a practical and safety problem due to the fact that the beam is invisible to the human eye. Therefore, any unexpected beams or scattered light cannot be detected visually. It requires additional laser tools that students will get familiar with. Additionally, introduction of lenses  into the beam path may pose safety concerns as it generates diverging and converging beams that need to be considered and controlled. </a:t>
            </a:r>
          </a:p>
          <a:p>
            <a:pPr>
              <a:spcBef>
                <a:spcPct val="0"/>
              </a:spcBef>
              <a:spcAft>
                <a:spcPts val="1200"/>
              </a:spcAft>
            </a:pPr>
            <a:r>
              <a:rPr lang="en-US" altLang="en-US" dirty="0"/>
              <a:t>The lenses used in this exercise are:</a:t>
            </a:r>
          </a:p>
          <a:p>
            <a:pPr lvl="1">
              <a:spcBef>
                <a:spcPct val="0"/>
              </a:spcBef>
            </a:pPr>
            <a:r>
              <a:rPr lang="en-US" altLang="en-US" dirty="0"/>
              <a:t> LC1582-B, -75 mm, 1”, N-BK7, Plano Concave</a:t>
            </a:r>
          </a:p>
          <a:p>
            <a:pPr lvl="1">
              <a:spcBef>
                <a:spcPct val="0"/>
              </a:spcBef>
            </a:pPr>
            <a:r>
              <a:rPr lang="en-US" altLang="en-US" dirty="0"/>
              <a:t> LA1986-B, +125 mm, 1”, N-BK7, Plano Convex</a:t>
            </a:r>
          </a:p>
          <a:p>
            <a:pPr>
              <a:spcBef>
                <a:spcPct val="0"/>
              </a:spcBef>
              <a:spcAft>
                <a:spcPts val="1200"/>
              </a:spcAft>
            </a:pPr>
            <a:endParaRPr lang="en-US" altLang="en-US" b="1" u="sng" dirty="0"/>
          </a:p>
          <a:p>
            <a:pPr>
              <a:spcBef>
                <a:spcPct val="0"/>
              </a:spcBef>
              <a:spcAft>
                <a:spcPts val="1200"/>
              </a:spcAft>
            </a:pPr>
            <a:r>
              <a:rPr lang="en-US" altLang="en-US" b="1" u="sng" dirty="0"/>
              <a:t>Tools</a:t>
            </a:r>
          </a:p>
          <a:p>
            <a:pPr marL="285750" indent="-285750">
              <a:spcAft>
                <a:spcPts val="600"/>
              </a:spcAft>
              <a:buFont typeface="Arial" panose="020B0604020202020204" pitchFamily="34" charset="0"/>
              <a:buChar char="•"/>
            </a:pPr>
            <a:r>
              <a:rPr lang="en-US" altLang="en-US" dirty="0"/>
              <a:t>Laser protective eyewear for 850 nm</a:t>
            </a:r>
          </a:p>
          <a:p>
            <a:pPr marL="285750" indent="-285750">
              <a:spcAft>
                <a:spcPts val="600"/>
              </a:spcAft>
              <a:buFont typeface="Arial" panose="020B0604020202020204" pitchFamily="34" charset="0"/>
              <a:buChar char="•"/>
            </a:pPr>
            <a:r>
              <a:rPr lang="en-US" altLang="en-US" dirty="0"/>
              <a:t>Beam blocks</a:t>
            </a:r>
          </a:p>
          <a:p>
            <a:pPr marL="285750" indent="-285750">
              <a:spcAft>
                <a:spcPts val="600"/>
              </a:spcAft>
              <a:buFont typeface="Arial" panose="020B0604020202020204" pitchFamily="34" charset="0"/>
              <a:buChar char="•"/>
            </a:pPr>
            <a:r>
              <a:rPr lang="en-US" altLang="en-US" dirty="0"/>
              <a:t>IR and Fluorescent cards</a:t>
            </a:r>
          </a:p>
          <a:p>
            <a:pPr marL="285750" indent="-285750">
              <a:spcAft>
                <a:spcPts val="600"/>
              </a:spcAft>
              <a:buFont typeface="Arial" panose="020B0604020202020204" pitchFamily="34" charset="0"/>
              <a:buChar char="•"/>
            </a:pPr>
            <a:r>
              <a:rPr lang="en-US" altLang="en-US" dirty="0"/>
              <a:t>IR viewer</a:t>
            </a:r>
          </a:p>
        </p:txBody>
      </p:sp>
      <p:cxnSp>
        <p:nvCxnSpPr>
          <p:cNvPr id="22" name="Straight Connector 21"/>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pic>
        <p:nvPicPr>
          <p:cNvPr id="7" name="Picture 6" descr="Image result for safety with laser lenses"/>
          <p:cNvPicPr/>
          <p:nvPr/>
        </p:nvPicPr>
        <p:blipFill>
          <a:blip r:embed="rId2">
            <a:extLst>
              <a:ext uri="{28A0092B-C50C-407E-A947-70E740481C1C}">
                <a14:useLocalDpi xmlns:a14="http://schemas.microsoft.com/office/drawing/2010/main" val="0"/>
              </a:ext>
            </a:extLst>
          </a:blip>
          <a:srcRect/>
          <a:stretch>
            <a:fillRect/>
          </a:stretch>
        </p:blipFill>
        <p:spPr bwMode="auto">
          <a:xfrm>
            <a:off x="5492377" y="3936626"/>
            <a:ext cx="2907478" cy="1776880"/>
          </a:xfrm>
          <a:prstGeom prst="rect">
            <a:avLst/>
          </a:prstGeom>
          <a:noFill/>
          <a:ln>
            <a:noFill/>
          </a:ln>
        </p:spPr>
      </p:pic>
    </p:spTree>
    <p:extLst>
      <p:ext uri="{BB962C8B-B14F-4D97-AF65-F5344CB8AC3E}">
        <p14:creationId xmlns:p14="http://schemas.microsoft.com/office/powerpoint/2010/main" val="171604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534" y="77893"/>
            <a:ext cx="8424907" cy="405941"/>
          </a:xfrm>
        </p:spPr>
        <p:txBody>
          <a:bodyPr>
            <a:noAutofit/>
          </a:bodyPr>
          <a:lstStyle/>
          <a:p>
            <a:r>
              <a:rPr lang="en-US" sz="3200" b="1" dirty="0">
                <a:solidFill>
                  <a:schemeClr val="accent5">
                    <a:lumMod val="75000"/>
                  </a:schemeClr>
                </a:solidFill>
              </a:rPr>
              <a:t>IR Beams and Telescope Alignment</a:t>
            </a:r>
          </a:p>
        </p:txBody>
      </p:sp>
      <p:sp>
        <p:nvSpPr>
          <p:cNvPr id="12" name="Slide Number Placeholder 11"/>
          <p:cNvSpPr>
            <a:spLocks noGrp="1"/>
          </p:cNvSpPr>
          <p:nvPr>
            <p:ph type="sldNum" sz="quarter" idx="12"/>
          </p:nvPr>
        </p:nvSpPr>
        <p:spPr/>
        <p:txBody>
          <a:bodyPr/>
          <a:lstStyle/>
          <a:p>
            <a:fld id="{9A8DD42E-82A4-4B2D-82BB-498554518294}" type="slidenum">
              <a:rPr lang="en-US" smtClean="0"/>
              <a:t>10</a:t>
            </a:fld>
            <a:endParaRPr lang="en-US"/>
          </a:p>
        </p:txBody>
      </p:sp>
      <p:sp>
        <p:nvSpPr>
          <p:cNvPr id="14" name="Rectangle 20"/>
          <p:cNvSpPr>
            <a:spLocks noChangeArrowheads="1"/>
          </p:cNvSpPr>
          <p:nvPr/>
        </p:nvSpPr>
        <p:spPr bwMode="auto">
          <a:xfrm>
            <a:off x="230534" y="3239008"/>
            <a:ext cx="8528758" cy="3467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400"/>
              </a:spcAft>
              <a:buNone/>
            </a:pPr>
            <a:r>
              <a:rPr lang="en-US" altLang="en-US" sz="1400" b="1" u="sng" dirty="0"/>
              <a:t>TASKS:</a:t>
            </a:r>
          </a:p>
          <a:p>
            <a:pPr marL="635000" indent="-342900">
              <a:spcBef>
                <a:spcPct val="0"/>
              </a:spcBef>
              <a:spcAft>
                <a:spcPts val="400"/>
              </a:spcAft>
              <a:buFontTx/>
              <a:buAutoNum type="arabicPeriod"/>
            </a:pPr>
            <a:r>
              <a:rPr lang="en-US" altLang="en-US" sz="1400" dirty="0"/>
              <a:t>Start with the laser beam blocked or disabled. Remove (or flip down) the flipper mirror and the lenses mounts if in place if not done already.</a:t>
            </a:r>
          </a:p>
          <a:p>
            <a:pPr marL="635000" indent="-342900">
              <a:spcBef>
                <a:spcPct val="0"/>
              </a:spcBef>
              <a:spcAft>
                <a:spcPts val="400"/>
              </a:spcAft>
              <a:buFontTx/>
              <a:buAutoNum type="arabicPeriod"/>
            </a:pPr>
            <a:r>
              <a:rPr lang="en-US" altLang="en-US" sz="1400" dirty="0"/>
              <a:t>Repeat steps 2 thru 7 from Exercise # 3.</a:t>
            </a:r>
          </a:p>
          <a:p>
            <a:pPr marL="635000" indent="-342900">
              <a:spcBef>
                <a:spcPct val="0"/>
              </a:spcBef>
              <a:spcAft>
                <a:spcPts val="400"/>
              </a:spcAft>
              <a:buFontTx/>
              <a:buAutoNum type="arabicPeriod"/>
            </a:pPr>
            <a:r>
              <a:rPr lang="en-US" altLang="en-US" sz="1400" dirty="0"/>
              <a:t>Position the lenses in their mounts. </a:t>
            </a:r>
          </a:p>
          <a:p>
            <a:pPr marL="635000" indent="-342900">
              <a:spcBef>
                <a:spcPct val="0"/>
              </a:spcBef>
              <a:spcAft>
                <a:spcPts val="400"/>
              </a:spcAft>
              <a:buFontTx/>
              <a:buAutoNum type="arabicPeriod"/>
            </a:pPr>
            <a:r>
              <a:rPr lang="en-US" altLang="en-US" sz="1400" dirty="0"/>
              <a:t>Using the safety skills learned in previously (such as walking the beam from optic to optic with a card), align the beam thru the lenses. Check beam collimation. Observe motion of beam on beam block behind the +125 mm lens. </a:t>
            </a:r>
          </a:p>
          <a:p>
            <a:pPr marL="635000" indent="-342900">
              <a:spcBef>
                <a:spcPct val="0"/>
              </a:spcBef>
              <a:spcAft>
                <a:spcPts val="400"/>
              </a:spcAft>
              <a:buFontTx/>
              <a:buAutoNum type="arabicPeriod"/>
            </a:pPr>
            <a:r>
              <a:rPr lang="en-US" altLang="en-US" sz="1400" dirty="0"/>
              <a:t>Optional task: you can change the distance between the lenses, place them at some angle, or rotate them to observe different optical effects such as </a:t>
            </a:r>
            <a:r>
              <a:rPr lang="en-US" sz="1400" dirty="0"/>
              <a:t>telescope adjustment for beam collimation, telescope adjustment to focus at desired plane, telescope adjustment for astigmatism, filter strength and reflections.</a:t>
            </a:r>
            <a:endParaRPr lang="en-US" altLang="en-US" sz="1400" dirty="0"/>
          </a:p>
          <a:p>
            <a:pPr marL="635000" indent="-342900">
              <a:spcBef>
                <a:spcPct val="0"/>
              </a:spcBef>
              <a:spcAft>
                <a:spcPts val="400"/>
              </a:spcAft>
              <a:buFontTx/>
              <a:buAutoNum type="arabicPeriod"/>
            </a:pPr>
            <a:r>
              <a:rPr lang="en-US" altLang="en-US" sz="1400" dirty="0"/>
              <a:t>With the goggles on, use the IR viewer and verify all beams, including reflected or stray beams, are contained.</a:t>
            </a:r>
          </a:p>
          <a:p>
            <a:pPr marL="635000" indent="-342900">
              <a:spcBef>
                <a:spcPct val="0"/>
              </a:spcBef>
              <a:spcAft>
                <a:spcPts val="400"/>
              </a:spcAft>
              <a:buFontTx/>
              <a:buAutoNum type="arabicPeriod"/>
            </a:pPr>
            <a:r>
              <a:rPr lang="en-US" altLang="en-US" sz="1400" dirty="0"/>
              <a:t>Block the laser or turn it off.</a:t>
            </a:r>
          </a:p>
        </p:txBody>
      </p:sp>
      <p:sp>
        <p:nvSpPr>
          <p:cNvPr id="7" name="Rectangle 6"/>
          <p:cNvSpPr/>
          <p:nvPr/>
        </p:nvSpPr>
        <p:spPr>
          <a:xfrm>
            <a:off x="3651795" y="578948"/>
            <a:ext cx="1267142" cy="276999"/>
          </a:xfrm>
          <a:prstGeom prst="rect">
            <a:avLst/>
          </a:prstGeom>
        </p:spPr>
        <p:txBody>
          <a:bodyPr wrap="none">
            <a:spAutoFit/>
          </a:bodyPr>
          <a:lstStyle/>
          <a:p>
            <a:pPr>
              <a:spcBef>
                <a:spcPct val="0"/>
              </a:spcBef>
              <a:spcAft>
                <a:spcPts val="1200"/>
              </a:spcAft>
            </a:pPr>
            <a:r>
              <a:rPr lang="en-US" altLang="en-US" sz="1200" b="1" u="sng" dirty="0"/>
              <a:t>OPTICAL LAYOUT</a:t>
            </a:r>
          </a:p>
        </p:txBody>
      </p:sp>
      <p:cxnSp>
        <p:nvCxnSpPr>
          <p:cNvPr id="62" name="Straight Connector 61"/>
          <p:cNvCxnSpPr/>
          <p:nvPr/>
        </p:nvCxnSpPr>
        <p:spPr>
          <a:xfrm>
            <a:off x="90353" y="558613"/>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735789" y="910001"/>
            <a:ext cx="7577716" cy="2208139"/>
            <a:chOff x="732521" y="910000"/>
            <a:chExt cx="7932721" cy="2426231"/>
          </a:xfrm>
        </p:grpSpPr>
        <p:sp>
          <p:nvSpPr>
            <p:cNvPr id="54" name="TextBox 70"/>
            <p:cNvSpPr txBox="1">
              <a:spLocks noChangeArrowheads="1"/>
            </p:cNvSpPr>
            <p:nvPr/>
          </p:nvSpPr>
          <p:spPr bwMode="auto">
            <a:xfrm>
              <a:off x="5170835" y="1749333"/>
              <a:ext cx="8499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+125 mm LENS</a:t>
              </a:r>
              <a:endParaRPr lang="en-US" altLang="en-US" sz="1200" dirty="0"/>
            </a:p>
          </p:txBody>
        </p:sp>
        <p:grpSp>
          <p:nvGrpSpPr>
            <p:cNvPr id="11" name="Group 10"/>
            <p:cNvGrpSpPr/>
            <p:nvPr/>
          </p:nvGrpSpPr>
          <p:grpSpPr>
            <a:xfrm>
              <a:off x="732521" y="910000"/>
              <a:ext cx="7932721" cy="2426231"/>
              <a:chOff x="579176" y="1361986"/>
              <a:chExt cx="7932721" cy="2426231"/>
            </a:xfrm>
          </p:grpSpPr>
          <p:sp>
            <p:nvSpPr>
              <p:cNvPr id="196" name="TextBox 195"/>
              <p:cNvSpPr txBox="1">
                <a:spLocks noChangeArrowheads="1"/>
              </p:cNvSpPr>
              <p:nvPr/>
            </p:nvSpPr>
            <p:spPr bwMode="auto">
              <a:xfrm>
                <a:off x="5666458" y="1409856"/>
                <a:ext cx="906711" cy="2649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b="1" dirty="0"/>
                  <a:t>IRIS</a:t>
                </a:r>
              </a:p>
            </p:txBody>
          </p:sp>
          <p:grpSp>
            <p:nvGrpSpPr>
              <p:cNvPr id="10" name="Group 9"/>
              <p:cNvGrpSpPr/>
              <p:nvPr/>
            </p:nvGrpSpPr>
            <p:grpSpPr>
              <a:xfrm>
                <a:off x="579176" y="1361986"/>
                <a:ext cx="7932721" cy="2426231"/>
                <a:chOff x="579176" y="1398243"/>
                <a:chExt cx="7932721" cy="2426231"/>
              </a:xfrm>
            </p:grpSpPr>
            <p:grpSp>
              <p:nvGrpSpPr>
                <p:cNvPr id="182" name="Group 21"/>
                <p:cNvGrpSpPr>
                  <a:grpSpLocks/>
                </p:cNvGrpSpPr>
                <p:nvPr/>
              </p:nvGrpSpPr>
              <p:grpSpPr bwMode="auto">
                <a:xfrm>
                  <a:off x="6277056" y="1553347"/>
                  <a:ext cx="152400" cy="609600"/>
                  <a:chOff x="1968" y="2448"/>
                  <a:chExt cx="192" cy="384"/>
                </a:xfrm>
              </p:grpSpPr>
              <p:grpSp>
                <p:nvGrpSpPr>
                  <p:cNvPr id="183" name="Group 22"/>
                  <p:cNvGrpSpPr>
                    <a:grpSpLocks/>
                  </p:cNvGrpSpPr>
                  <p:nvPr/>
                </p:nvGrpSpPr>
                <p:grpSpPr bwMode="auto">
                  <a:xfrm>
                    <a:off x="1968" y="2448"/>
                    <a:ext cx="192" cy="144"/>
                    <a:chOff x="1968" y="2448"/>
                    <a:chExt cx="192" cy="144"/>
                  </a:xfrm>
                </p:grpSpPr>
                <p:sp>
                  <p:nvSpPr>
                    <p:cNvPr id="187"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8"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84" name="Group 25"/>
                  <p:cNvGrpSpPr>
                    <a:grpSpLocks/>
                  </p:cNvGrpSpPr>
                  <p:nvPr/>
                </p:nvGrpSpPr>
                <p:grpSpPr bwMode="auto">
                  <a:xfrm rot="10800000">
                    <a:off x="1968" y="2688"/>
                    <a:ext cx="192" cy="144"/>
                    <a:chOff x="1968" y="2448"/>
                    <a:chExt cx="192" cy="144"/>
                  </a:xfrm>
                </p:grpSpPr>
                <p:sp>
                  <p:nvSpPr>
                    <p:cNvPr id="185"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6"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9" name="Group 21"/>
                <p:cNvGrpSpPr>
                  <a:grpSpLocks/>
                </p:cNvGrpSpPr>
                <p:nvPr/>
              </p:nvGrpSpPr>
              <p:grpSpPr bwMode="auto">
                <a:xfrm>
                  <a:off x="2354000" y="1618378"/>
                  <a:ext cx="152400" cy="609600"/>
                  <a:chOff x="1968" y="2448"/>
                  <a:chExt cx="192" cy="384"/>
                </a:xfrm>
              </p:grpSpPr>
              <p:grpSp>
                <p:nvGrpSpPr>
                  <p:cNvPr id="190" name="Group 22"/>
                  <p:cNvGrpSpPr>
                    <a:grpSpLocks/>
                  </p:cNvGrpSpPr>
                  <p:nvPr/>
                </p:nvGrpSpPr>
                <p:grpSpPr bwMode="auto">
                  <a:xfrm>
                    <a:off x="1968" y="2448"/>
                    <a:ext cx="192" cy="144"/>
                    <a:chOff x="1968" y="2448"/>
                    <a:chExt cx="192" cy="144"/>
                  </a:xfrm>
                </p:grpSpPr>
                <p:sp>
                  <p:nvSpPr>
                    <p:cNvPr id="194"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5"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91" name="Group 25"/>
                  <p:cNvGrpSpPr>
                    <a:grpSpLocks/>
                  </p:cNvGrpSpPr>
                  <p:nvPr/>
                </p:nvGrpSpPr>
                <p:grpSpPr bwMode="auto">
                  <a:xfrm rot="10800000">
                    <a:off x="1968" y="2688"/>
                    <a:ext cx="192" cy="144"/>
                    <a:chOff x="1968" y="2448"/>
                    <a:chExt cx="192" cy="144"/>
                  </a:xfrm>
                </p:grpSpPr>
                <p:sp>
                  <p:nvSpPr>
                    <p:cNvPr id="192"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 name="Group 8"/>
                <p:cNvGrpSpPr/>
                <p:nvPr/>
              </p:nvGrpSpPr>
              <p:grpSpPr>
                <a:xfrm>
                  <a:off x="579176" y="1398243"/>
                  <a:ext cx="7932721" cy="2426231"/>
                  <a:chOff x="630934" y="1417098"/>
                  <a:chExt cx="7932721" cy="2426231"/>
                </a:xfrm>
              </p:grpSpPr>
              <p:grpSp>
                <p:nvGrpSpPr>
                  <p:cNvPr id="52" name="Group 51"/>
                  <p:cNvGrpSpPr/>
                  <p:nvPr/>
                </p:nvGrpSpPr>
                <p:grpSpPr>
                  <a:xfrm>
                    <a:off x="630934" y="1417098"/>
                    <a:ext cx="7932721" cy="2426231"/>
                    <a:chOff x="240381" y="799403"/>
                    <a:chExt cx="7932721" cy="2682823"/>
                  </a:xfrm>
                </p:grpSpPr>
                <p:sp>
                  <p:nvSpPr>
                    <p:cNvPr id="53" name="TextBox 77"/>
                    <p:cNvSpPr txBox="1">
                      <a:spLocks noChangeArrowheads="1"/>
                    </p:cNvSpPr>
                    <p:nvPr/>
                  </p:nvSpPr>
                  <p:spPr bwMode="auto">
                    <a:xfrm>
                      <a:off x="4999837" y="2720443"/>
                      <a:ext cx="6917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sp>
                  <p:nvSpPr>
                    <p:cNvPr id="55" name="Freeform 54"/>
                    <p:cNvSpPr/>
                    <p:nvPr/>
                  </p:nvSpPr>
                  <p:spPr bwMode="auto">
                    <a:xfrm rot="5400000" flipH="1" flipV="1">
                      <a:off x="5514855" y="2695683"/>
                      <a:ext cx="189839" cy="349894"/>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nvGrpSpPr>
                    <p:cNvPr id="58" name="Group 57"/>
                    <p:cNvGrpSpPr/>
                    <p:nvPr/>
                  </p:nvGrpSpPr>
                  <p:grpSpPr>
                    <a:xfrm>
                      <a:off x="240381" y="799403"/>
                      <a:ext cx="7932721" cy="2682823"/>
                      <a:chOff x="361150" y="1239531"/>
                      <a:chExt cx="7932721" cy="2682823"/>
                    </a:xfrm>
                  </p:grpSpPr>
                  <p:grpSp>
                    <p:nvGrpSpPr>
                      <p:cNvPr id="59" name="Group 58"/>
                      <p:cNvGrpSpPr/>
                      <p:nvPr/>
                    </p:nvGrpSpPr>
                    <p:grpSpPr>
                      <a:xfrm>
                        <a:off x="361150" y="1304643"/>
                        <a:ext cx="7932721" cy="2617711"/>
                        <a:chOff x="295862" y="1379873"/>
                        <a:chExt cx="7932721" cy="2617711"/>
                      </a:xfrm>
                    </p:grpSpPr>
                    <p:sp>
                      <p:nvSpPr>
                        <p:cNvPr id="65" name="TextBox 80"/>
                        <p:cNvSpPr txBox="1">
                          <a:spLocks noChangeArrowheads="1"/>
                        </p:cNvSpPr>
                        <p:nvPr/>
                      </p:nvSpPr>
                      <p:spPr bwMode="auto">
                        <a:xfrm>
                          <a:off x="295862" y="2114064"/>
                          <a:ext cx="8903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MIRROR 1</a:t>
                          </a:r>
                          <a:endParaRPr lang="en-US" altLang="en-US" sz="1200" dirty="0"/>
                        </a:p>
                      </p:txBody>
                    </p:sp>
                    <p:grpSp>
                      <p:nvGrpSpPr>
                        <p:cNvPr id="67" name="Group 66"/>
                        <p:cNvGrpSpPr/>
                        <p:nvPr/>
                      </p:nvGrpSpPr>
                      <p:grpSpPr>
                        <a:xfrm>
                          <a:off x="934816" y="1379873"/>
                          <a:ext cx="7293767" cy="2617711"/>
                          <a:chOff x="198464" y="956894"/>
                          <a:chExt cx="7293767" cy="2617711"/>
                        </a:xfrm>
                      </p:grpSpPr>
                      <p:cxnSp>
                        <p:nvCxnSpPr>
                          <p:cNvPr id="68" name="Straight Arrow Connector 67"/>
                          <p:cNvCxnSpPr>
                            <a:stCxn id="86" idx="2"/>
                          </p:cNvCxnSpPr>
                          <p:nvPr/>
                        </p:nvCxnSpPr>
                        <p:spPr>
                          <a:xfrm>
                            <a:off x="6129349" y="1409556"/>
                            <a:ext cx="9931" cy="13849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89" name="Group 1"/>
                          <p:cNvGrpSpPr>
                            <a:grpSpLocks/>
                          </p:cNvGrpSpPr>
                          <p:nvPr/>
                        </p:nvGrpSpPr>
                        <p:grpSpPr bwMode="auto">
                          <a:xfrm>
                            <a:off x="198464" y="956894"/>
                            <a:ext cx="7293767" cy="2617711"/>
                            <a:chOff x="-165444" y="3432645"/>
                            <a:chExt cx="6397863" cy="2736644"/>
                          </a:xfrm>
                        </p:grpSpPr>
                        <p:sp>
                          <p:nvSpPr>
                            <p:cNvPr id="92" name="Rectangle 91"/>
                            <p:cNvSpPr>
                              <a:spLocks noChangeArrowheads="1"/>
                            </p:cNvSpPr>
                            <p:nvPr/>
                          </p:nvSpPr>
                          <p:spPr bwMode="auto">
                            <a:xfrm rot="2677687">
                              <a:off x="398286" y="3617160"/>
                              <a:ext cx="144713" cy="621014"/>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cxnSp>
                          <p:nvCxnSpPr>
                            <p:cNvPr id="93" name="Straight Connector 68"/>
                            <p:cNvCxnSpPr>
                              <a:cxnSpLocks noChangeShapeType="1"/>
                            </p:cNvCxnSpPr>
                            <p:nvPr/>
                          </p:nvCxnSpPr>
                          <p:spPr bwMode="auto">
                            <a:xfrm>
                              <a:off x="4219087" y="5066737"/>
                              <a:ext cx="17507" cy="652380"/>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94" name="TextBox 93"/>
                            <p:cNvSpPr txBox="1">
                              <a:spLocks noChangeArrowheads="1"/>
                            </p:cNvSpPr>
                            <p:nvPr/>
                          </p:nvSpPr>
                          <p:spPr bwMode="auto">
                            <a:xfrm>
                              <a:off x="752231" y="3432645"/>
                              <a:ext cx="79533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200" b="1" dirty="0"/>
                                <a:t>IRIS</a:t>
                              </a:r>
                            </a:p>
                          </p:txBody>
                        </p:sp>
                        <p:sp>
                          <p:nvSpPr>
                            <p:cNvPr id="95" name="TextBox 75"/>
                            <p:cNvSpPr txBox="1">
                              <a:spLocks noChangeArrowheads="1"/>
                            </p:cNvSpPr>
                            <p:nvPr/>
                          </p:nvSpPr>
                          <p:spPr bwMode="auto">
                            <a:xfrm>
                              <a:off x="5413836" y="5382749"/>
                              <a:ext cx="818583" cy="28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r" eaLnBrk="1" hangingPunct="1">
                                <a:spcBef>
                                  <a:spcPct val="0"/>
                                </a:spcBef>
                                <a:buFontTx/>
                                <a:buNone/>
                              </a:pPr>
                              <a:r>
                                <a:rPr lang="en-US" altLang="en-US" sz="1200" b="1" dirty="0"/>
                                <a:t>MIRROR 3</a:t>
                              </a:r>
                              <a:endParaRPr lang="en-US" altLang="en-US" sz="1200" dirty="0"/>
                            </a:p>
                          </p:txBody>
                        </p:sp>
                        <p:sp>
                          <p:nvSpPr>
                            <p:cNvPr id="96" name="Freeform 95"/>
                            <p:cNvSpPr/>
                            <p:nvPr/>
                          </p:nvSpPr>
                          <p:spPr>
                            <a:xfrm rot="5400000" flipH="1">
                              <a:off x="5323790" y="5408147"/>
                              <a:ext cx="195960" cy="46320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97" name="Freeform 96"/>
                            <p:cNvSpPr/>
                            <p:nvPr/>
                          </p:nvSpPr>
                          <p:spPr>
                            <a:xfrm rot="5400000" flipH="1" flipV="1">
                              <a:off x="-3403" y="4036154"/>
                              <a:ext cx="79824" cy="403906"/>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sp>
                          <p:nvSpPr>
                            <p:cNvPr id="98" name="TextBox 79"/>
                            <p:cNvSpPr txBox="1">
                              <a:spLocks noChangeArrowheads="1"/>
                            </p:cNvSpPr>
                            <p:nvPr/>
                          </p:nvSpPr>
                          <p:spPr bwMode="auto">
                            <a:xfrm>
                              <a:off x="674999" y="5817453"/>
                              <a:ext cx="1227137" cy="351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3.8 mW, 850 nm</a:t>
                              </a:r>
                              <a:endParaRPr lang="en-US" altLang="en-US" sz="1200" dirty="0"/>
                            </a:p>
                          </p:txBody>
                        </p:sp>
                        <p:sp>
                          <p:nvSpPr>
                            <p:cNvPr id="99" name="Rectangle 98"/>
                            <p:cNvSpPr>
                              <a:spLocks noChangeArrowheads="1"/>
                            </p:cNvSpPr>
                            <p:nvPr/>
                          </p:nvSpPr>
                          <p:spPr bwMode="auto">
                            <a:xfrm rot="16200000">
                              <a:off x="128786" y="5458258"/>
                              <a:ext cx="827507" cy="311921"/>
                            </a:xfrm>
                            <a:prstGeom prst="rect">
                              <a:avLst/>
                            </a:prstGeom>
                            <a:solidFill>
                              <a:schemeClr val="accent1">
                                <a:lumMod val="60000"/>
                                <a:lumOff val="40000"/>
                              </a:schemeClr>
                            </a:solidFill>
                            <a:ln w="9525">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r>
                                <a:rPr lang="en-US" sz="1000" b="1" cap="small" dirty="0"/>
                                <a:t>IR Diode Laser</a:t>
                              </a:r>
                            </a:p>
                          </p:txBody>
                        </p:sp>
                      </p:grpSp>
                      <p:cxnSp>
                        <p:nvCxnSpPr>
                          <p:cNvPr id="71" name="Straight Arrow Connector 70"/>
                          <p:cNvCxnSpPr>
                            <a:stCxn id="99" idx="3"/>
                            <a:endCxn id="92" idx="3"/>
                          </p:cNvCxnSpPr>
                          <p:nvPr/>
                        </p:nvCxnSpPr>
                        <p:spPr>
                          <a:xfrm flipH="1" flipV="1">
                            <a:off x="982328" y="1488350"/>
                            <a:ext cx="23260" cy="11595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4" name="Freeform 73"/>
                          <p:cNvSpPr/>
                          <p:nvPr/>
                        </p:nvSpPr>
                        <p:spPr bwMode="auto">
                          <a:xfrm rot="5400000">
                            <a:off x="6429961" y="925388"/>
                            <a:ext cx="156214" cy="558245"/>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cxnSp>
                        <p:nvCxnSpPr>
                          <p:cNvPr id="80" name="Straight Arrow Connector 79"/>
                          <p:cNvCxnSpPr/>
                          <p:nvPr/>
                        </p:nvCxnSpPr>
                        <p:spPr>
                          <a:xfrm flipV="1">
                            <a:off x="1000998" y="1400606"/>
                            <a:ext cx="5147022" cy="7879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81"/>
                          <p:cNvSpPr>
                            <a:spLocks noChangeArrowheads="1"/>
                          </p:cNvSpPr>
                          <p:nvPr/>
                        </p:nvSpPr>
                        <p:spPr bwMode="auto">
                          <a:xfrm rot="2677687">
                            <a:off x="6139742" y="2545517"/>
                            <a:ext cx="164977" cy="621014"/>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sp>
                        <p:nvSpPr>
                          <p:cNvPr id="86" name="Rectangle 85"/>
                          <p:cNvSpPr>
                            <a:spLocks noChangeArrowheads="1"/>
                          </p:cNvSpPr>
                          <p:nvPr/>
                        </p:nvSpPr>
                        <p:spPr bwMode="auto">
                          <a:xfrm rot="2677687">
                            <a:off x="5893334" y="1253329"/>
                            <a:ext cx="600265" cy="182542"/>
                          </a:xfrm>
                          <a:prstGeom prst="rect">
                            <a:avLst/>
                          </a:prstGeom>
                          <a:solidFill>
                            <a:schemeClr val="bg1">
                              <a:lumMod val="65000"/>
                            </a:schemeClr>
                          </a:solidFill>
                          <a:ln w="19050">
                            <a:solidFill>
                              <a:schemeClr val="tx1"/>
                            </a:solidFill>
                            <a:miter lim="800000"/>
                            <a:headEnd/>
                            <a:tailEnd/>
                          </a:ln>
                          <a:effectLst>
                            <a:outerShdw dist="23000" dir="5400000" rotWithShape="0">
                              <a:srgbClr val="808080">
                                <a:alpha val="34999"/>
                              </a:srgbClr>
                            </a:outerShdw>
                          </a:effectLst>
                        </p:spPr>
                        <p:txBody>
                          <a:bodyPr anchor="ctr"/>
                          <a:lstStyle/>
                          <a:p>
                            <a:pPr algn="ctr" eaLnBrk="1" fontAlgn="auto" hangingPunct="1">
                              <a:spcBef>
                                <a:spcPts val="0"/>
                              </a:spcBef>
                              <a:spcAft>
                                <a:spcPts val="0"/>
                              </a:spcAft>
                              <a:defRPr/>
                            </a:pPr>
                            <a:endParaRPr lang="en-US">
                              <a:solidFill>
                                <a:schemeClr val="lt1"/>
                              </a:solidFill>
                              <a:latin typeface="+mn-lt"/>
                              <a:ea typeface="+mn-ea"/>
                            </a:endParaRPr>
                          </a:p>
                        </p:txBody>
                      </p:sp>
                      <p:cxnSp>
                        <p:nvCxnSpPr>
                          <p:cNvPr id="87" name="Straight Arrow Connector 86"/>
                          <p:cNvCxnSpPr/>
                          <p:nvPr/>
                        </p:nvCxnSpPr>
                        <p:spPr>
                          <a:xfrm flipH="1">
                            <a:off x="5228804" y="2790551"/>
                            <a:ext cx="919216" cy="3271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75"/>
                          <p:cNvSpPr txBox="1">
                            <a:spLocks noChangeArrowheads="1"/>
                          </p:cNvSpPr>
                          <p:nvPr/>
                        </p:nvSpPr>
                        <p:spPr bwMode="auto">
                          <a:xfrm>
                            <a:off x="6478756" y="1091207"/>
                            <a:ext cx="9332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r" eaLnBrk="1" hangingPunct="1">
                              <a:spcBef>
                                <a:spcPct val="0"/>
                              </a:spcBef>
                              <a:buFontTx/>
                              <a:buNone/>
                            </a:pPr>
                            <a:r>
                              <a:rPr lang="en-US" altLang="en-US" sz="1200" b="1" dirty="0"/>
                              <a:t>MIRROR 2</a:t>
                            </a:r>
                            <a:endParaRPr lang="en-US" altLang="en-US" sz="1200" dirty="0"/>
                          </a:p>
                        </p:txBody>
                      </p:sp>
                    </p:grpSp>
                  </p:grpSp>
                  <p:cxnSp>
                    <p:nvCxnSpPr>
                      <p:cNvPr id="60" name="Straight Connector 68"/>
                      <p:cNvCxnSpPr>
                        <a:cxnSpLocks noChangeShapeType="1"/>
                      </p:cNvCxnSpPr>
                      <p:nvPr/>
                    </p:nvCxnSpPr>
                    <p:spPr bwMode="auto">
                      <a:xfrm flipV="1">
                        <a:off x="1344663" y="1304642"/>
                        <a:ext cx="1350282" cy="29065"/>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61" name="TextBox 77"/>
                      <p:cNvSpPr txBox="1">
                        <a:spLocks noChangeArrowheads="1"/>
                      </p:cNvSpPr>
                      <p:nvPr/>
                    </p:nvSpPr>
                    <p:spPr bwMode="auto">
                      <a:xfrm>
                        <a:off x="447027" y="1239531"/>
                        <a:ext cx="69176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sp>
                    <p:nvSpPr>
                      <p:cNvPr id="64" name="Freeform 63"/>
                      <p:cNvSpPr/>
                      <p:nvPr/>
                    </p:nvSpPr>
                    <p:spPr bwMode="auto">
                      <a:xfrm rot="5400000" flipH="1" flipV="1">
                        <a:off x="1076220" y="1227233"/>
                        <a:ext cx="114588" cy="405958"/>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eaLnBrk="1" fontAlgn="auto" hangingPunct="1">
                          <a:spcBef>
                            <a:spcPts val="0"/>
                          </a:spcBef>
                          <a:spcAft>
                            <a:spcPts val="0"/>
                          </a:spcAft>
                          <a:defRPr/>
                        </a:pPr>
                        <a:endParaRPr lang="en-US"/>
                      </a:p>
                    </p:txBody>
                  </p:sp>
                </p:grpSp>
              </p:grpSp>
              <p:sp>
                <p:nvSpPr>
                  <p:cNvPr id="100" name="TextBox 70"/>
                  <p:cNvSpPr txBox="1">
                    <a:spLocks noChangeArrowheads="1"/>
                  </p:cNvSpPr>
                  <p:nvPr/>
                </p:nvSpPr>
                <p:spPr bwMode="auto">
                  <a:xfrm>
                    <a:off x="4157116" y="2283169"/>
                    <a:ext cx="85686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-75 mm LENS</a:t>
                    </a:r>
                    <a:endParaRPr lang="en-US" altLang="en-US" sz="1200" dirty="0"/>
                  </a:p>
                </p:txBody>
              </p:sp>
              <p:sp>
                <p:nvSpPr>
                  <p:cNvPr id="4" name="Oval 3"/>
                  <p:cNvSpPr/>
                  <p:nvPr/>
                </p:nvSpPr>
                <p:spPr>
                  <a:xfrm>
                    <a:off x="4574411" y="1549382"/>
                    <a:ext cx="115410" cy="76086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p:cNvSpPr/>
                  <p:nvPr/>
                </p:nvSpPr>
                <p:spPr>
                  <a:xfrm>
                    <a:off x="5328774" y="1543576"/>
                    <a:ext cx="115410" cy="760864"/>
                  </a:xfrm>
                  <a:prstGeom prst="ellips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spTree>
    <p:extLst>
      <p:ext uri="{BB962C8B-B14F-4D97-AF65-F5344CB8AC3E}">
        <p14:creationId xmlns:p14="http://schemas.microsoft.com/office/powerpoint/2010/main" val="4116897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654" y="0"/>
            <a:ext cx="7932540" cy="926123"/>
          </a:xfrm>
        </p:spPr>
        <p:txBody>
          <a:bodyPr>
            <a:normAutofit/>
          </a:bodyPr>
          <a:lstStyle/>
          <a:p>
            <a:r>
              <a:rPr lang="en-US" sz="4000" b="1" dirty="0">
                <a:solidFill>
                  <a:schemeClr val="accent5">
                    <a:lumMod val="75000"/>
                  </a:schemeClr>
                </a:solidFill>
              </a:rPr>
              <a:t>Exercise # 5. Periscope Alignment </a:t>
            </a:r>
          </a:p>
        </p:txBody>
      </p:sp>
      <p:sp>
        <p:nvSpPr>
          <p:cNvPr id="67" name="Slide Number Placeholder 66"/>
          <p:cNvSpPr>
            <a:spLocks noGrp="1"/>
          </p:cNvSpPr>
          <p:nvPr>
            <p:ph type="sldNum" sz="quarter" idx="12"/>
          </p:nvPr>
        </p:nvSpPr>
        <p:spPr/>
        <p:txBody>
          <a:bodyPr/>
          <a:lstStyle/>
          <a:p>
            <a:fld id="{9A8DD42E-82A4-4B2D-82BB-498554518294}" type="slidenum">
              <a:rPr lang="en-US" smtClean="0"/>
              <a:t>11</a:t>
            </a:fld>
            <a:endParaRPr lang="en-US"/>
          </a:p>
        </p:txBody>
      </p:sp>
      <p:grpSp>
        <p:nvGrpSpPr>
          <p:cNvPr id="13" name="Group 12"/>
          <p:cNvGrpSpPr/>
          <p:nvPr/>
        </p:nvGrpSpPr>
        <p:grpSpPr>
          <a:xfrm>
            <a:off x="5486794" y="3960117"/>
            <a:ext cx="3106616" cy="2305293"/>
            <a:chOff x="7209692" y="1153014"/>
            <a:chExt cx="3106616" cy="1797050"/>
          </a:xfrm>
        </p:grpSpPr>
        <p:pic>
          <p:nvPicPr>
            <p:cNvPr id="3" name="Picture 1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438071" y="1153014"/>
              <a:ext cx="2396504"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Straight Connector 3"/>
            <p:cNvCxnSpPr/>
            <p:nvPr/>
          </p:nvCxnSpPr>
          <p:spPr bwMode="auto">
            <a:xfrm>
              <a:off x="7209692" y="1875692"/>
              <a:ext cx="1617785" cy="11724"/>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p:nvCxnSpPr>
          <p:spPr bwMode="auto">
            <a:xfrm>
              <a:off x="8827477" y="1887416"/>
              <a:ext cx="0" cy="328246"/>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p:nvCxnSpPr>
          <p:spPr bwMode="auto">
            <a:xfrm>
              <a:off x="8827477" y="2215662"/>
              <a:ext cx="1488831" cy="11724"/>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sp>
        <p:nvSpPr>
          <p:cNvPr id="68" name="Rectangle 67"/>
          <p:cNvSpPr/>
          <p:nvPr/>
        </p:nvSpPr>
        <p:spPr>
          <a:xfrm>
            <a:off x="396721" y="1867237"/>
            <a:ext cx="8056485" cy="4185761"/>
          </a:xfrm>
          <a:prstGeom prst="rect">
            <a:avLst/>
          </a:prstGeom>
        </p:spPr>
        <p:txBody>
          <a:bodyPr wrap="square">
            <a:spAutoFit/>
          </a:bodyPr>
          <a:lstStyle/>
          <a:p>
            <a:pPr>
              <a:spcBef>
                <a:spcPct val="0"/>
              </a:spcBef>
              <a:spcAft>
                <a:spcPts val="1200"/>
              </a:spcAft>
              <a:buNone/>
            </a:pPr>
            <a:r>
              <a:rPr lang="en-US" altLang="en-US" b="1" u="sng" dirty="0"/>
              <a:t>Overview</a:t>
            </a:r>
          </a:p>
          <a:p>
            <a:pPr>
              <a:spcBef>
                <a:spcPct val="0"/>
              </a:spcBef>
              <a:spcAft>
                <a:spcPts val="1200"/>
              </a:spcAft>
              <a:buNone/>
            </a:pPr>
            <a:r>
              <a:rPr lang="en-US" altLang="en-US" dirty="0"/>
              <a:t>The alignment of a periscope of any type (up (down)-and-over or plane-vertical) present high potential for laser eye injury as it re-directs the beam in both the horizontal and vertical plane.  A careful alignment process is required to ensure that all reflections are considered and controlled at all time. Additional safety measures are also suggested in this exercise as good practice to avoid scattered or direct exposures.  </a:t>
            </a:r>
          </a:p>
          <a:p>
            <a:pPr>
              <a:spcBef>
                <a:spcPct val="0"/>
              </a:spcBef>
              <a:spcAft>
                <a:spcPts val="1200"/>
              </a:spcAft>
              <a:buNone/>
            </a:pPr>
            <a:endParaRPr lang="en-US" altLang="en-US" dirty="0"/>
          </a:p>
          <a:p>
            <a:pPr>
              <a:spcBef>
                <a:spcPct val="0"/>
              </a:spcBef>
              <a:spcAft>
                <a:spcPts val="1200"/>
              </a:spcAft>
            </a:pPr>
            <a:r>
              <a:rPr lang="en-US" altLang="en-US" b="1" u="sng" dirty="0"/>
              <a:t>Tools needed</a:t>
            </a:r>
          </a:p>
          <a:p>
            <a:pPr marL="285750" indent="-285750">
              <a:spcBef>
                <a:spcPct val="0"/>
              </a:spcBef>
              <a:spcAft>
                <a:spcPts val="600"/>
              </a:spcAft>
              <a:buFont typeface="Arial" panose="020B0604020202020204" pitchFamily="34" charset="0"/>
              <a:buChar char="•"/>
            </a:pPr>
            <a:r>
              <a:rPr lang="en-US" altLang="en-US" dirty="0"/>
              <a:t>Laser protective eyewear for 532 nm</a:t>
            </a:r>
          </a:p>
          <a:p>
            <a:pPr marL="285750" indent="-285750">
              <a:spcBef>
                <a:spcPct val="0"/>
              </a:spcBef>
              <a:spcAft>
                <a:spcPts val="600"/>
              </a:spcAft>
              <a:buFont typeface="Arial" panose="020B0604020202020204" pitchFamily="34" charset="0"/>
              <a:buChar char="•"/>
            </a:pPr>
            <a:r>
              <a:rPr lang="en-US" altLang="en-US" dirty="0"/>
              <a:t>Beam blocks</a:t>
            </a:r>
          </a:p>
          <a:p>
            <a:pPr marL="285750" indent="-285750">
              <a:spcBef>
                <a:spcPct val="0"/>
              </a:spcBef>
              <a:spcAft>
                <a:spcPts val="600"/>
              </a:spcAft>
              <a:buFont typeface="Arial" panose="020B0604020202020204" pitchFamily="34" charset="0"/>
              <a:buChar char="•"/>
            </a:pPr>
            <a:r>
              <a:rPr lang="en-US" altLang="en-US" dirty="0"/>
              <a:t>Fluorescent cards</a:t>
            </a:r>
          </a:p>
        </p:txBody>
      </p:sp>
      <p:sp>
        <p:nvSpPr>
          <p:cNvPr id="69" name="Rectangle 20"/>
          <p:cNvSpPr>
            <a:spLocks noChangeArrowheads="1"/>
          </p:cNvSpPr>
          <p:nvPr/>
        </p:nvSpPr>
        <p:spPr bwMode="auto">
          <a:xfrm>
            <a:off x="0" y="852381"/>
            <a:ext cx="8266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Aft>
                <a:spcPts val="1200"/>
              </a:spcAft>
              <a:buNone/>
              <a:tabLst>
                <a:tab pos="1997075" algn="l"/>
              </a:tabLst>
              <a:defRPr/>
            </a:pPr>
            <a:r>
              <a:rPr lang="en-US" sz="1800" dirty="0">
                <a:solidFill>
                  <a:schemeClr val="accent5">
                    <a:lumMod val="75000"/>
                  </a:schemeClr>
                </a:solidFill>
                <a:latin typeface="+mn-lt"/>
                <a:ea typeface="+mn-ea"/>
              </a:rPr>
              <a:t>Mandatory exercise, Maximum time for completing: </a:t>
            </a:r>
            <a:r>
              <a:rPr lang="en-US" sz="1800" dirty="0">
                <a:solidFill>
                  <a:schemeClr val="accent5">
                    <a:lumMod val="75000"/>
                  </a:schemeClr>
                </a:solidFill>
                <a:latin typeface="+mn-lt"/>
                <a:ea typeface="ＭＳ Ｐゴシック" charset="-128"/>
              </a:rPr>
              <a:t>30 minutes</a:t>
            </a:r>
            <a:endParaRPr lang="en-US" altLang="en-US" sz="1800" dirty="0">
              <a:solidFill>
                <a:schemeClr val="accent5">
                  <a:lumMod val="75000"/>
                </a:schemeClr>
              </a:solidFill>
              <a:latin typeface="+mn-lt"/>
              <a:ea typeface="+mn-ea"/>
            </a:endParaRPr>
          </a:p>
        </p:txBody>
      </p:sp>
      <p:cxnSp>
        <p:nvCxnSpPr>
          <p:cNvPr id="71" name="Straight Connector 70"/>
          <p:cNvCxnSpPr/>
          <p:nvPr/>
        </p:nvCxnSpPr>
        <p:spPr>
          <a:xfrm>
            <a:off x="97654" y="765647"/>
            <a:ext cx="8355552"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802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02" y="15895"/>
            <a:ext cx="8829184" cy="750608"/>
          </a:xfrm>
        </p:spPr>
        <p:txBody>
          <a:bodyPr>
            <a:normAutofit/>
          </a:bodyPr>
          <a:lstStyle/>
          <a:p>
            <a:r>
              <a:rPr lang="en-US" sz="3600" b="1" dirty="0">
                <a:solidFill>
                  <a:schemeClr val="accent5">
                    <a:lumMod val="75000"/>
                  </a:schemeClr>
                </a:solidFill>
              </a:rPr>
              <a:t>Periscope Alignment </a:t>
            </a:r>
          </a:p>
        </p:txBody>
      </p:sp>
      <p:sp>
        <p:nvSpPr>
          <p:cNvPr id="12" name="Slide Number Placeholder 11"/>
          <p:cNvSpPr>
            <a:spLocks noGrp="1"/>
          </p:cNvSpPr>
          <p:nvPr>
            <p:ph type="sldNum" sz="quarter" idx="12"/>
          </p:nvPr>
        </p:nvSpPr>
        <p:spPr/>
        <p:txBody>
          <a:bodyPr/>
          <a:lstStyle/>
          <a:p>
            <a:fld id="{9A8DD42E-82A4-4B2D-82BB-498554518294}" type="slidenum">
              <a:rPr lang="en-US" smtClean="0"/>
              <a:t>12</a:t>
            </a:fld>
            <a:endParaRPr lang="en-US"/>
          </a:p>
        </p:txBody>
      </p:sp>
      <p:sp>
        <p:nvSpPr>
          <p:cNvPr id="14" name="Rectangle 20"/>
          <p:cNvSpPr>
            <a:spLocks noChangeArrowheads="1"/>
          </p:cNvSpPr>
          <p:nvPr/>
        </p:nvSpPr>
        <p:spPr bwMode="auto">
          <a:xfrm>
            <a:off x="150920" y="2951241"/>
            <a:ext cx="8830760" cy="3529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400"/>
              </a:spcAft>
              <a:buNone/>
            </a:pPr>
            <a:r>
              <a:rPr lang="en-US" altLang="en-US" sz="1200" b="1" u="sng" dirty="0"/>
              <a:t>TASKS:</a:t>
            </a:r>
          </a:p>
          <a:p>
            <a:pPr marL="635000" indent="-342900">
              <a:spcBef>
                <a:spcPct val="0"/>
              </a:spcBef>
              <a:spcAft>
                <a:spcPts val="400"/>
              </a:spcAft>
              <a:buFontTx/>
              <a:buAutoNum type="arabicPeriod"/>
            </a:pPr>
            <a:r>
              <a:rPr lang="en-US" altLang="en-US" sz="1200" dirty="0"/>
              <a:t>Start with the laser beam blocked or disabled. Remove the polarizing beam ND filter if present.</a:t>
            </a:r>
          </a:p>
          <a:p>
            <a:pPr marL="635000" indent="-342900">
              <a:spcBef>
                <a:spcPct val="0"/>
              </a:spcBef>
              <a:spcAft>
                <a:spcPts val="400"/>
              </a:spcAft>
              <a:buFontTx/>
              <a:buAutoNum type="arabicPeriod"/>
            </a:pPr>
            <a:r>
              <a:rPr lang="en-US" altLang="en-US" sz="1200" dirty="0"/>
              <a:t>Close both irises and place beam blocks behind the first and second </a:t>
            </a:r>
            <a:r>
              <a:rPr lang="en-US" altLang="en-US" sz="1200" dirty="0" err="1"/>
              <a:t>isis</a:t>
            </a:r>
            <a:r>
              <a:rPr lang="en-US" altLang="en-US" sz="1200" dirty="0"/>
              <a:t>.</a:t>
            </a:r>
          </a:p>
          <a:p>
            <a:pPr marL="635000" indent="-342900">
              <a:spcBef>
                <a:spcPct val="0"/>
              </a:spcBef>
              <a:spcAft>
                <a:spcPts val="400"/>
              </a:spcAft>
              <a:buFontTx/>
              <a:buAutoNum type="arabicPeriod"/>
            </a:pPr>
            <a:r>
              <a:rPr lang="en-US" altLang="en-US" sz="1200" dirty="0"/>
              <a:t>Put on the appropriate laser protection goggles.</a:t>
            </a:r>
          </a:p>
          <a:p>
            <a:pPr marL="635000" indent="-342900">
              <a:spcBef>
                <a:spcPct val="0"/>
              </a:spcBef>
              <a:spcAft>
                <a:spcPts val="400"/>
              </a:spcAft>
              <a:buFontTx/>
              <a:buAutoNum type="arabicPeriod"/>
            </a:pPr>
            <a:r>
              <a:rPr lang="en-US" altLang="en-US" sz="1200" dirty="0"/>
              <a:t>Enable the green laser and remove the beam block if present.</a:t>
            </a:r>
          </a:p>
          <a:p>
            <a:pPr marL="635000" indent="-342900">
              <a:spcBef>
                <a:spcPct val="0"/>
              </a:spcBef>
              <a:spcAft>
                <a:spcPts val="400"/>
              </a:spcAft>
              <a:buFontTx/>
              <a:buAutoNum type="arabicPeriod"/>
            </a:pPr>
            <a:r>
              <a:rPr lang="en-US" altLang="en-US" sz="1200" dirty="0"/>
              <a:t>Adjust the laser such as the beam is centered on the closed first iris. Block the beam. </a:t>
            </a:r>
          </a:p>
          <a:p>
            <a:pPr marL="635000" indent="-342900">
              <a:spcBef>
                <a:spcPct val="0"/>
              </a:spcBef>
              <a:spcAft>
                <a:spcPts val="400"/>
              </a:spcAft>
              <a:buFontTx/>
              <a:buAutoNum type="arabicPeriod"/>
            </a:pPr>
            <a:r>
              <a:rPr lang="en-US" altLang="en-US" sz="1200" dirty="0"/>
              <a:t>Unblock the beam and open the first iris to allow the beam to reach the second iris.</a:t>
            </a:r>
          </a:p>
          <a:p>
            <a:pPr marL="635000" indent="-342900">
              <a:spcBef>
                <a:spcPct val="0"/>
              </a:spcBef>
              <a:spcAft>
                <a:spcPts val="400"/>
              </a:spcAft>
              <a:buFontTx/>
              <a:buAutoNum type="arabicPeriod"/>
            </a:pPr>
            <a:r>
              <a:rPr lang="en-US" altLang="en-US" sz="1200" dirty="0"/>
              <a:t>Align so the beam is centered on the second iris. Verify for stray reflections with a card.</a:t>
            </a:r>
          </a:p>
          <a:p>
            <a:pPr marL="635000" indent="-342900">
              <a:spcBef>
                <a:spcPct val="0"/>
              </a:spcBef>
              <a:spcAft>
                <a:spcPts val="400"/>
              </a:spcAft>
              <a:buFontTx/>
              <a:buAutoNum type="arabicPeriod"/>
            </a:pPr>
            <a:r>
              <a:rPr lang="en-US" altLang="en-US" sz="1200" dirty="0"/>
              <a:t>Block the laser. Open the second iris. </a:t>
            </a:r>
          </a:p>
          <a:p>
            <a:pPr marL="635000" indent="-342900">
              <a:spcBef>
                <a:spcPct val="0"/>
              </a:spcBef>
              <a:spcAft>
                <a:spcPts val="400"/>
              </a:spcAft>
              <a:buFontTx/>
              <a:buAutoNum type="arabicPeriod"/>
            </a:pPr>
            <a:r>
              <a:rPr lang="en-US" altLang="en-US" sz="1200" dirty="0"/>
              <a:t>Covering the upper mirror with a card, unblock the laser. Adjust the upper mirror so that the beam enters the mirror aperture. Align the mirror until the beam is pointing vertically down.</a:t>
            </a:r>
          </a:p>
          <a:p>
            <a:pPr marL="635000" indent="-342900">
              <a:spcBef>
                <a:spcPct val="0"/>
              </a:spcBef>
              <a:spcAft>
                <a:spcPts val="400"/>
              </a:spcAft>
              <a:buFontTx/>
              <a:buAutoNum type="arabicPeriod"/>
            </a:pPr>
            <a:r>
              <a:rPr lang="en-US" altLang="en-US" sz="1200" dirty="0"/>
              <a:t>Move the card to cover the lower mirror, when beam is correct on the mirror, align the beam toward the target.</a:t>
            </a:r>
          </a:p>
          <a:p>
            <a:pPr marL="635000" indent="-342900">
              <a:spcBef>
                <a:spcPct val="0"/>
              </a:spcBef>
              <a:spcAft>
                <a:spcPts val="400"/>
              </a:spcAft>
              <a:buFontTx/>
              <a:buAutoNum type="arabicPeriod"/>
            </a:pPr>
            <a:r>
              <a:rPr lang="en-US" altLang="en-US" sz="1200" dirty="0"/>
              <a:t>Perform two point unique alignment, to verify that the beam is in horizontal plane (optional).</a:t>
            </a:r>
          </a:p>
          <a:p>
            <a:pPr marL="635000" indent="-342900">
              <a:spcBef>
                <a:spcPct val="0"/>
              </a:spcBef>
              <a:spcAft>
                <a:spcPts val="400"/>
              </a:spcAft>
              <a:buFontTx/>
              <a:buAutoNum type="arabicPeriod"/>
            </a:pPr>
            <a:r>
              <a:rPr lang="en-US" altLang="en-US" sz="1200" dirty="0"/>
              <a:t>Verify that there are no stray beams and all beams are contained.</a:t>
            </a:r>
          </a:p>
          <a:p>
            <a:pPr marL="635000" indent="-342900">
              <a:spcBef>
                <a:spcPct val="0"/>
              </a:spcBef>
              <a:spcAft>
                <a:spcPts val="400"/>
              </a:spcAft>
              <a:buFontTx/>
              <a:buAutoNum type="arabicPeriod"/>
            </a:pPr>
            <a:r>
              <a:rPr lang="en-US" altLang="en-US" sz="1200" dirty="0"/>
              <a:t>Block the laser or turn it off.</a:t>
            </a:r>
          </a:p>
        </p:txBody>
      </p:sp>
      <p:grpSp>
        <p:nvGrpSpPr>
          <p:cNvPr id="62" name="Group 61"/>
          <p:cNvGrpSpPr/>
          <p:nvPr/>
        </p:nvGrpSpPr>
        <p:grpSpPr>
          <a:xfrm>
            <a:off x="1307524" y="837886"/>
            <a:ext cx="7207826" cy="2130723"/>
            <a:chOff x="730912" y="3383957"/>
            <a:chExt cx="8552366" cy="2385313"/>
          </a:xfrm>
        </p:grpSpPr>
        <p:grpSp>
          <p:nvGrpSpPr>
            <p:cNvPr id="63" name="Group 1"/>
            <p:cNvGrpSpPr>
              <a:grpSpLocks/>
            </p:cNvGrpSpPr>
            <p:nvPr/>
          </p:nvGrpSpPr>
          <p:grpSpPr bwMode="auto">
            <a:xfrm>
              <a:off x="730912" y="3383957"/>
              <a:ext cx="7886531" cy="2381926"/>
              <a:chOff x="355775" y="4561962"/>
              <a:chExt cx="7886530" cy="2281538"/>
            </a:xfrm>
          </p:grpSpPr>
          <p:sp>
            <p:nvSpPr>
              <p:cNvPr id="74" name="Oval 73"/>
              <p:cNvSpPr>
                <a:spLocks noChangeArrowheads="1"/>
              </p:cNvSpPr>
              <p:nvPr/>
            </p:nvSpPr>
            <p:spPr bwMode="auto">
              <a:xfrm rot="2341005">
                <a:off x="5088694" y="6479296"/>
                <a:ext cx="376071" cy="148489"/>
              </a:xfrm>
              <a:prstGeom prst="ellipse">
                <a:avLst/>
              </a:prstGeom>
              <a:solidFill>
                <a:srgbClr val="7F7F7F"/>
              </a:solidFill>
              <a:ln w="9525">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grpSp>
            <p:nvGrpSpPr>
              <p:cNvPr id="75" name="Group 21"/>
              <p:cNvGrpSpPr>
                <a:grpSpLocks/>
              </p:cNvGrpSpPr>
              <p:nvPr/>
            </p:nvGrpSpPr>
            <p:grpSpPr bwMode="auto">
              <a:xfrm>
                <a:off x="2027238" y="5715000"/>
                <a:ext cx="152400" cy="609600"/>
                <a:chOff x="1968" y="2448"/>
                <a:chExt cx="192" cy="384"/>
              </a:xfrm>
            </p:grpSpPr>
            <p:grpSp>
              <p:nvGrpSpPr>
                <p:cNvPr id="98" name="Group 22"/>
                <p:cNvGrpSpPr>
                  <a:grpSpLocks/>
                </p:cNvGrpSpPr>
                <p:nvPr/>
              </p:nvGrpSpPr>
              <p:grpSpPr bwMode="auto">
                <a:xfrm>
                  <a:off x="1968" y="2448"/>
                  <a:ext cx="192" cy="144"/>
                  <a:chOff x="1968" y="2448"/>
                  <a:chExt cx="192" cy="144"/>
                </a:xfrm>
              </p:grpSpPr>
              <p:sp>
                <p:nvSpPr>
                  <p:cNvPr id="102"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9" name="Group 25"/>
                <p:cNvGrpSpPr>
                  <a:grpSpLocks/>
                </p:cNvGrpSpPr>
                <p:nvPr/>
              </p:nvGrpSpPr>
              <p:grpSpPr bwMode="auto">
                <a:xfrm rot="10800000">
                  <a:off x="1968" y="2688"/>
                  <a:ext cx="192" cy="144"/>
                  <a:chOff x="1968" y="2448"/>
                  <a:chExt cx="192" cy="144"/>
                </a:xfrm>
              </p:grpSpPr>
              <p:sp>
                <p:nvSpPr>
                  <p:cNvPr id="100"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76" name="Rectangle 75"/>
              <p:cNvSpPr>
                <a:spLocks noChangeArrowheads="1"/>
              </p:cNvSpPr>
              <p:nvPr/>
            </p:nvSpPr>
            <p:spPr bwMode="auto">
              <a:xfrm>
                <a:off x="530226" y="5834063"/>
                <a:ext cx="1052512" cy="354012"/>
              </a:xfrm>
              <a:prstGeom prst="rect">
                <a:avLst/>
              </a:prstGeom>
              <a:solidFill>
                <a:srgbClr val="92D050"/>
              </a:solidFill>
              <a:ln w="9525">
                <a:solidFill>
                  <a:schemeClr val="tx1"/>
                </a:solidFill>
                <a:miter lim="800000"/>
                <a:headEnd/>
                <a:tailEnd/>
              </a:ln>
              <a:effectLst>
                <a:outerShdw dist="23000" dir="5400000" rotWithShape="0">
                  <a:srgbClr val="808080">
                    <a:alpha val="34999"/>
                  </a:srgbClr>
                </a:outerShdw>
              </a:effectLst>
            </p:spPr>
            <p:txBody>
              <a:bodyPr anchor="ctr"/>
              <a:lstStyle/>
              <a:p>
                <a:pPr algn="ctr">
                  <a:defRPr/>
                </a:pPr>
                <a:r>
                  <a:rPr lang="en-US" sz="1200" cap="small" dirty="0"/>
                  <a:t>Diode Laser</a:t>
                </a:r>
              </a:p>
            </p:txBody>
          </p:sp>
          <p:sp>
            <p:nvSpPr>
              <p:cNvPr id="80" name="Oval 79"/>
              <p:cNvSpPr>
                <a:spLocks noChangeArrowheads="1"/>
              </p:cNvSpPr>
              <p:nvPr/>
            </p:nvSpPr>
            <p:spPr bwMode="auto">
              <a:xfrm rot="2511275">
                <a:off x="5088770" y="5916025"/>
                <a:ext cx="379671" cy="147747"/>
              </a:xfrm>
              <a:prstGeom prst="ellipse">
                <a:avLst/>
              </a:prstGeom>
              <a:solidFill>
                <a:srgbClr val="7F7F7F"/>
              </a:solidFill>
              <a:ln w="9525">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grpSp>
            <p:nvGrpSpPr>
              <p:cNvPr id="77" name="Group 21"/>
              <p:cNvGrpSpPr>
                <a:grpSpLocks/>
              </p:cNvGrpSpPr>
              <p:nvPr/>
            </p:nvGrpSpPr>
            <p:grpSpPr bwMode="auto">
              <a:xfrm>
                <a:off x="3998913" y="5708650"/>
                <a:ext cx="152400" cy="609600"/>
                <a:chOff x="1968" y="2448"/>
                <a:chExt cx="192" cy="384"/>
              </a:xfrm>
            </p:grpSpPr>
            <p:grpSp>
              <p:nvGrpSpPr>
                <p:cNvPr id="92" name="Group 22"/>
                <p:cNvGrpSpPr>
                  <a:grpSpLocks/>
                </p:cNvGrpSpPr>
                <p:nvPr/>
              </p:nvGrpSpPr>
              <p:grpSpPr bwMode="auto">
                <a:xfrm>
                  <a:off x="1968" y="2448"/>
                  <a:ext cx="192" cy="144"/>
                  <a:chOff x="1968" y="2448"/>
                  <a:chExt cx="192" cy="144"/>
                </a:xfrm>
              </p:grpSpPr>
              <p:sp>
                <p:nvSpPr>
                  <p:cNvPr id="96"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 name="Group 25"/>
                <p:cNvGrpSpPr>
                  <a:grpSpLocks/>
                </p:cNvGrpSpPr>
                <p:nvPr/>
              </p:nvGrpSpPr>
              <p:grpSpPr bwMode="auto">
                <a:xfrm rot="10800000">
                  <a:off x="1968" y="2688"/>
                  <a:ext cx="192" cy="144"/>
                  <a:chOff x="1968" y="2448"/>
                  <a:chExt cx="192" cy="144"/>
                </a:xfrm>
              </p:grpSpPr>
              <p:sp>
                <p:nvSpPr>
                  <p:cNvPr id="94"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83" name="Freeform 82"/>
              <p:cNvSpPr/>
              <p:nvPr/>
            </p:nvSpPr>
            <p:spPr>
              <a:xfrm rot="5400000">
                <a:off x="1935163" y="4603750"/>
                <a:ext cx="1092200" cy="130810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84" name="TextBox 101"/>
              <p:cNvSpPr txBox="1">
                <a:spLocks noChangeArrowheads="1"/>
              </p:cNvSpPr>
              <p:nvPr/>
            </p:nvSpPr>
            <p:spPr bwMode="auto">
              <a:xfrm>
                <a:off x="3098801" y="4561962"/>
                <a:ext cx="1481137" cy="29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sp>
            <p:nvSpPr>
              <p:cNvPr id="85" name="Freeform 84"/>
              <p:cNvSpPr/>
              <p:nvPr/>
            </p:nvSpPr>
            <p:spPr>
              <a:xfrm rot="5400000">
                <a:off x="2222501" y="4953000"/>
                <a:ext cx="800100" cy="95250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86" name="TextBox 103"/>
              <p:cNvSpPr txBox="1">
                <a:spLocks noChangeArrowheads="1"/>
              </p:cNvSpPr>
              <p:nvPr/>
            </p:nvSpPr>
            <p:spPr bwMode="auto">
              <a:xfrm>
                <a:off x="2794037" y="4868730"/>
                <a:ext cx="844177" cy="28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100" b="1" dirty="0"/>
                  <a:t>IRISES</a:t>
                </a:r>
              </a:p>
            </p:txBody>
          </p:sp>
          <p:sp>
            <p:nvSpPr>
              <p:cNvPr id="87" name="Freeform 86"/>
              <p:cNvSpPr/>
              <p:nvPr/>
            </p:nvSpPr>
            <p:spPr>
              <a:xfrm rot="5400000" flipV="1">
                <a:off x="3302001" y="5143500"/>
                <a:ext cx="800100" cy="57150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89" name="Freeform 88"/>
              <p:cNvSpPr/>
              <p:nvPr/>
            </p:nvSpPr>
            <p:spPr>
              <a:xfrm rot="19977625" flipH="1">
                <a:off x="5267648" y="5501534"/>
                <a:ext cx="810064" cy="171183"/>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90" name="TextBox 110"/>
              <p:cNvSpPr txBox="1">
                <a:spLocks noChangeArrowheads="1"/>
              </p:cNvSpPr>
              <p:nvPr/>
            </p:nvSpPr>
            <p:spPr bwMode="auto">
              <a:xfrm>
                <a:off x="355775" y="6194425"/>
                <a:ext cx="1471437" cy="29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5mW, 532 nm</a:t>
                </a:r>
                <a:endParaRPr lang="en-US" altLang="en-US" sz="1200" dirty="0"/>
              </a:p>
            </p:txBody>
          </p:sp>
          <p:sp>
            <p:nvSpPr>
              <p:cNvPr id="91" name="Freeform 90"/>
              <p:cNvSpPr/>
              <p:nvPr/>
            </p:nvSpPr>
            <p:spPr>
              <a:xfrm rot="5400000" flipH="1">
                <a:off x="7729263" y="6330457"/>
                <a:ext cx="406044" cy="620041"/>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cxnSp>
            <p:nvCxnSpPr>
              <p:cNvPr id="82" name="Straight Connector 66"/>
              <p:cNvCxnSpPr>
                <a:cxnSpLocks noChangeShapeType="1"/>
              </p:cNvCxnSpPr>
              <p:nvPr/>
            </p:nvCxnSpPr>
            <p:spPr bwMode="auto">
              <a:xfrm rot="5400000">
                <a:off x="1612106" y="6022182"/>
                <a:ext cx="377825" cy="1588"/>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64" name="TextBox 111"/>
            <p:cNvSpPr txBox="1">
              <a:spLocks noChangeArrowheads="1"/>
            </p:cNvSpPr>
            <p:nvPr/>
          </p:nvSpPr>
          <p:spPr bwMode="auto">
            <a:xfrm>
              <a:off x="6285943" y="3748959"/>
              <a:ext cx="1481138" cy="51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PERISCOPE ASSEMBLY</a:t>
              </a:r>
              <a:endParaRPr lang="en-US" altLang="en-US" sz="1200" dirty="0"/>
            </a:p>
          </p:txBody>
        </p:sp>
        <p:sp>
          <p:nvSpPr>
            <p:cNvPr id="65" name="TextBox 108"/>
            <p:cNvSpPr txBox="1">
              <a:spLocks noChangeArrowheads="1"/>
            </p:cNvSpPr>
            <p:nvPr/>
          </p:nvSpPr>
          <p:spPr bwMode="auto">
            <a:xfrm>
              <a:off x="8356178" y="5493045"/>
              <a:ext cx="927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TARGET</a:t>
              </a:r>
              <a:endParaRPr lang="en-US" altLang="en-US" sz="1200" dirty="0"/>
            </a:p>
          </p:txBody>
        </p:sp>
        <p:grpSp>
          <p:nvGrpSpPr>
            <p:cNvPr id="67" name="Group 96"/>
            <p:cNvGrpSpPr>
              <a:grpSpLocks/>
            </p:cNvGrpSpPr>
            <p:nvPr/>
          </p:nvGrpSpPr>
          <p:grpSpPr bwMode="auto">
            <a:xfrm>
              <a:off x="7373079" y="4542591"/>
              <a:ext cx="720725" cy="914402"/>
              <a:chOff x="7185392" y="5280792"/>
              <a:chExt cx="720535" cy="914402"/>
            </a:xfrm>
          </p:grpSpPr>
          <p:grpSp>
            <p:nvGrpSpPr>
              <p:cNvPr id="68" name="Group 95"/>
              <p:cNvGrpSpPr>
                <a:grpSpLocks/>
              </p:cNvGrpSpPr>
              <p:nvPr/>
            </p:nvGrpSpPr>
            <p:grpSpPr bwMode="auto">
              <a:xfrm rot="663067">
                <a:off x="7312661" y="5416743"/>
                <a:ext cx="533259" cy="673101"/>
                <a:chOff x="7455862" y="5486938"/>
                <a:chExt cx="533259" cy="673101"/>
              </a:xfrm>
            </p:grpSpPr>
            <p:sp>
              <p:nvSpPr>
                <p:cNvPr id="71" name="Oval 70"/>
                <p:cNvSpPr>
                  <a:spLocks noChangeArrowheads="1"/>
                </p:cNvSpPr>
                <p:nvPr/>
              </p:nvSpPr>
              <p:spPr bwMode="auto">
                <a:xfrm>
                  <a:off x="7455862" y="5486938"/>
                  <a:ext cx="533259" cy="673100"/>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72" name="Oval 71"/>
                <p:cNvSpPr>
                  <a:spLocks noChangeArrowheads="1"/>
                </p:cNvSpPr>
                <p:nvPr/>
              </p:nvSpPr>
              <p:spPr bwMode="auto">
                <a:xfrm>
                  <a:off x="7522863" y="5585741"/>
                  <a:ext cx="379313" cy="481012"/>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73" name="Oval 72"/>
                <p:cNvSpPr>
                  <a:spLocks noChangeArrowheads="1"/>
                </p:cNvSpPr>
                <p:nvPr/>
              </p:nvSpPr>
              <p:spPr bwMode="auto">
                <a:xfrm>
                  <a:off x="7597927" y="5684273"/>
                  <a:ext cx="228540" cy="288925"/>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24" name="Oval 123"/>
                <p:cNvSpPr>
                  <a:spLocks noChangeArrowheads="1"/>
                </p:cNvSpPr>
                <p:nvPr/>
              </p:nvSpPr>
              <p:spPr bwMode="auto">
                <a:xfrm>
                  <a:off x="7455862" y="5486939"/>
                  <a:ext cx="533259" cy="673100"/>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25" name="Oval 124"/>
                <p:cNvSpPr>
                  <a:spLocks noChangeArrowheads="1"/>
                </p:cNvSpPr>
                <p:nvPr/>
              </p:nvSpPr>
              <p:spPr bwMode="auto">
                <a:xfrm>
                  <a:off x="7522863" y="5585742"/>
                  <a:ext cx="379313" cy="481012"/>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26" name="Oval 125"/>
                <p:cNvSpPr>
                  <a:spLocks noChangeArrowheads="1"/>
                </p:cNvSpPr>
                <p:nvPr/>
              </p:nvSpPr>
              <p:spPr bwMode="auto">
                <a:xfrm>
                  <a:off x="7597927" y="5684274"/>
                  <a:ext cx="228540" cy="288925"/>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grpSp>
          <p:cxnSp>
            <p:nvCxnSpPr>
              <p:cNvPr id="69" name="Straight Connector 92"/>
              <p:cNvCxnSpPr>
                <a:cxnSpLocks noChangeShapeType="1"/>
              </p:cNvCxnSpPr>
              <p:nvPr/>
            </p:nvCxnSpPr>
            <p:spPr bwMode="auto">
              <a:xfrm rot="5400000">
                <a:off x="7098851" y="5737198"/>
                <a:ext cx="914400" cy="1588"/>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0" name="Straight Connector 93"/>
              <p:cNvCxnSpPr>
                <a:cxnSpLocks noChangeShapeType="1"/>
              </p:cNvCxnSpPr>
              <p:nvPr/>
            </p:nvCxnSpPr>
            <p:spPr bwMode="auto">
              <a:xfrm>
                <a:off x="7185392" y="5719488"/>
                <a:ext cx="720535" cy="93663"/>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27" name="Straight Connector 92"/>
              <p:cNvCxnSpPr>
                <a:cxnSpLocks noChangeShapeType="1"/>
              </p:cNvCxnSpPr>
              <p:nvPr/>
            </p:nvCxnSpPr>
            <p:spPr bwMode="auto">
              <a:xfrm rot="5400000">
                <a:off x="7098851" y="5737200"/>
                <a:ext cx="914400" cy="1588"/>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28" name="Straight Connector 93"/>
              <p:cNvCxnSpPr>
                <a:cxnSpLocks noChangeShapeType="1"/>
              </p:cNvCxnSpPr>
              <p:nvPr/>
            </p:nvCxnSpPr>
            <p:spPr bwMode="auto">
              <a:xfrm>
                <a:off x="7185392" y="5719489"/>
                <a:ext cx="720535" cy="93663"/>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grpSp>
      <p:sp>
        <p:nvSpPr>
          <p:cNvPr id="7" name="Rectangle 6"/>
          <p:cNvSpPr/>
          <p:nvPr/>
        </p:nvSpPr>
        <p:spPr>
          <a:xfrm>
            <a:off x="446215" y="1186979"/>
            <a:ext cx="1799532" cy="369332"/>
          </a:xfrm>
          <a:prstGeom prst="rect">
            <a:avLst/>
          </a:prstGeom>
        </p:spPr>
        <p:txBody>
          <a:bodyPr wrap="none">
            <a:spAutoFit/>
          </a:bodyPr>
          <a:lstStyle/>
          <a:p>
            <a:pPr>
              <a:spcBef>
                <a:spcPct val="0"/>
              </a:spcBef>
              <a:spcAft>
                <a:spcPts val="1200"/>
              </a:spcAft>
            </a:pPr>
            <a:r>
              <a:rPr lang="en-US" altLang="en-US" b="1" u="sng" dirty="0"/>
              <a:t>OPTICAL LAYOUT</a:t>
            </a:r>
          </a:p>
        </p:txBody>
      </p:sp>
      <p:cxnSp>
        <p:nvCxnSpPr>
          <p:cNvPr id="105" name="Straight Arrow Connector 104"/>
          <p:cNvCxnSpPr/>
          <p:nvPr/>
        </p:nvCxnSpPr>
        <p:spPr>
          <a:xfrm>
            <a:off x="5428777" y="2192859"/>
            <a:ext cx="17802" cy="50101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endCxn id="73" idx="3"/>
          </p:cNvCxnSpPr>
          <p:nvPr/>
        </p:nvCxnSpPr>
        <p:spPr>
          <a:xfrm flipV="1">
            <a:off x="5452379" y="2374364"/>
            <a:ext cx="1691380" cy="33008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341593" y="2178505"/>
            <a:ext cx="3103246" cy="1938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129" name="Oval 128"/>
          <p:cNvSpPr>
            <a:spLocks noChangeArrowheads="1"/>
          </p:cNvSpPr>
          <p:nvPr/>
        </p:nvSpPr>
        <p:spPr bwMode="auto">
          <a:xfrm rot="663067">
            <a:off x="6483668" y="2139814"/>
            <a:ext cx="449543" cy="601259"/>
          </a:xfrm>
          <a:prstGeom prst="ellipse">
            <a:avLst/>
          </a:prstGeom>
          <a:noFill/>
          <a:ln w="19050">
            <a:solidFill>
              <a:schemeClr val="bg1">
                <a:lumMod val="50000"/>
              </a:schemeClr>
            </a:solidFill>
            <a:prstDash val="sysDash"/>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30" name="Oval 129"/>
          <p:cNvSpPr>
            <a:spLocks noChangeArrowheads="1"/>
          </p:cNvSpPr>
          <p:nvPr/>
        </p:nvSpPr>
        <p:spPr bwMode="auto">
          <a:xfrm rot="663067">
            <a:off x="6539834" y="2226414"/>
            <a:ext cx="319765" cy="429673"/>
          </a:xfrm>
          <a:prstGeom prst="ellipse">
            <a:avLst/>
          </a:prstGeom>
          <a:noFill/>
          <a:ln w="19050">
            <a:solidFill>
              <a:schemeClr val="bg1">
                <a:lumMod val="50000"/>
              </a:schemeClr>
            </a:solidFill>
            <a:prstDash val="sysDash"/>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31" name="Oval 130"/>
          <p:cNvSpPr>
            <a:spLocks noChangeArrowheads="1"/>
          </p:cNvSpPr>
          <p:nvPr/>
        </p:nvSpPr>
        <p:spPr bwMode="auto">
          <a:xfrm rot="663067">
            <a:off x="6602693" y="2314337"/>
            <a:ext cx="192662" cy="258088"/>
          </a:xfrm>
          <a:prstGeom prst="ellipse">
            <a:avLst/>
          </a:prstGeom>
          <a:noFill/>
          <a:ln w="19050">
            <a:solidFill>
              <a:schemeClr val="bg1">
                <a:lumMod val="50000"/>
              </a:schemeClr>
            </a:solidFill>
            <a:prstDash val="sysDash"/>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cxnSp>
        <p:nvCxnSpPr>
          <p:cNvPr id="132" name="Straight Connector 92"/>
          <p:cNvCxnSpPr>
            <a:cxnSpLocks noChangeShapeType="1"/>
          </p:cNvCxnSpPr>
          <p:nvPr/>
        </p:nvCxnSpPr>
        <p:spPr bwMode="auto">
          <a:xfrm rot="5400000">
            <a:off x="6280446" y="2426107"/>
            <a:ext cx="816804" cy="1339"/>
          </a:xfrm>
          <a:prstGeom prst="line">
            <a:avLst/>
          </a:prstGeom>
          <a:noFill/>
          <a:ln w="19050">
            <a:solidFill>
              <a:schemeClr val="bg1">
                <a:lumMod val="50000"/>
              </a:schemeClr>
            </a:solidFill>
            <a:prstDash val="sysDash"/>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33" name="Straight Connector 93"/>
          <p:cNvCxnSpPr>
            <a:cxnSpLocks noChangeShapeType="1"/>
          </p:cNvCxnSpPr>
          <p:nvPr/>
        </p:nvCxnSpPr>
        <p:spPr bwMode="auto">
          <a:xfrm>
            <a:off x="6376379" y="2410246"/>
            <a:ext cx="607418" cy="83666"/>
          </a:xfrm>
          <a:prstGeom prst="line">
            <a:avLst/>
          </a:prstGeom>
          <a:noFill/>
          <a:ln w="19050">
            <a:solidFill>
              <a:schemeClr val="bg1">
                <a:lumMod val="50000"/>
              </a:schemeClr>
            </a:solidFill>
            <a:prstDash val="sysDash"/>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164965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8796014" cy="926123"/>
          </a:xfrm>
        </p:spPr>
        <p:txBody>
          <a:bodyPr>
            <a:normAutofit/>
          </a:bodyPr>
          <a:lstStyle/>
          <a:p>
            <a:r>
              <a:rPr lang="en-US" sz="4000" b="1" dirty="0">
                <a:solidFill>
                  <a:schemeClr val="accent5">
                    <a:lumMod val="75000"/>
                  </a:schemeClr>
                </a:solidFill>
              </a:rPr>
              <a:t>Exercise # 6. Attenuation Filters</a:t>
            </a:r>
          </a:p>
        </p:txBody>
      </p:sp>
      <p:sp>
        <p:nvSpPr>
          <p:cNvPr id="67" name="Slide Number Placeholder 66"/>
          <p:cNvSpPr>
            <a:spLocks noGrp="1"/>
          </p:cNvSpPr>
          <p:nvPr>
            <p:ph type="sldNum" sz="quarter" idx="12"/>
          </p:nvPr>
        </p:nvSpPr>
        <p:spPr/>
        <p:txBody>
          <a:bodyPr/>
          <a:lstStyle/>
          <a:p>
            <a:fld id="{9A8DD42E-82A4-4B2D-82BB-498554518294}" type="slidenum">
              <a:rPr lang="en-US" smtClean="0"/>
              <a:t>13</a:t>
            </a:fld>
            <a:endParaRPr lang="en-US" dirty="0"/>
          </a:p>
        </p:txBody>
      </p:sp>
      <p:sp>
        <p:nvSpPr>
          <p:cNvPr id="14" name="Rectangle 20"/>
          <p:cNvSpPr>
            <a:spLocks noChangeArrowheads="1"/>
          </p:cNvSpPr>
          <p:nvPr/>
        </p:nvSpPr>
        <p:spPr bwMode="auto">
          <a:xfrm>
            <a:off x="0" y="765647"/>
            <a:ext cx="826619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Aft>
                <a:spcPts val="1200"/>
              </a:spcAft>
              <a:buNone/>
              <a:tabLst>
                <a:tab pos="1997075" algn="l"/>
              </a:tabLst>
              <a:defRPr/>
            </a:pPr>
            <a:r>
              <a:rPr lang="en-US" sz="1800" dirty="0">
                <a:solidFill>
                  <a:schemeClr val="accent5">
                    <a:lumMod val="75000"/>
                  </a:schemeClr>
                </a:solidFill>
                <a:latin typeface="+mn-lt"/>
                <a:ea typeface="+mn-ea"/>
              </a:rPr>
              <a:t>Maximum time for completing the exercise: </a:t>
            </a:r>
            <a:r>
              <a:rPr lang="en-US" sz="1800" dirty="0">
                <a:solidFill>
                  <a:schemeClr val="accent5">
                    <a:lumMod val="75000"/>
                  </a:schemeClr>
                </a:solidFill>
                <a:latin typeface="+mn-lt"/>
                <a:ea typeface="ＭＳ Ｐゴシック" charset="-128"/>
              </a:rPr>
              <a:t>15 minutes</a:t>
            </a:r>
            <a:endParaRPr lang="en-US" altLang="en-US" sz="1800" dirty="0">
              <a:solidFill>
                <a:schemeClr val="accent5">
                  <a:lumMod val="75000"/>
                </a:schemeClr>
              </a:solidFill>
              <a:latin typeface="+mn-lt"/>
              <a:ea typeface="+mn-ea"/>
            </a:endParaRPr>
          </a:p>
        </p:txBody>
      </p:sp>
      <p:sp>
        <p:nvSpPr>
          <p:cNvPr id="68" name="Rectangle 67"/>
          <p:cNvSpPr/>
          <p:nvPr/>
        </p:nvSpPr>
        <p:spPr>
          <a:xfrm>
            <a:off x="265232" y="1278321"/>
            <a:ext cx="8459760" cy="4216539"/>
          </a:xfrm>
          <a:prstGeom prst="rect">
            <a:avLst/>
          </a:prstGeom>
          <a:ln w="19050">
            <a:noFill/>
          </a:ln>
        </p:spPr>
        <p:style>
          <a:lnRef idx="1">
            <a:schemeClr val="accent1"/>
          </a:lnRef>
          <a:fillRef idx="0">
            <a:schemeClr val="accent1"/>
          </a:fillRef>
          <a:effectRef idx="0">
            <a:schemeClr val="accent1"/>
          </a:effectRef>
          <a:fontRef idx="minor">
            <a:schemeClr val="tx1"/>
          </a:fontRef>
        </p:style>
        <p:txBody>
          <a:bodyPr wrap="square">
            <a:spAutoFit/>
          </a:bodyPr>
          <a:lstStyle/>
          <a:p>
            <a:pPr>
              <a:spcBef>
                <a:spcPct val="0"/>
              </a:spcBef>
              <a:spcAft>
                <a:spcPts val="1200"/>
              </a:spcAft>
              <a:buNone/>
            </a:pPr>
            <a:r>
              <a:rPr lang="en-US" altLang="en-US" b="1" u="sng" dirty="0"/>
              <a:t>Overview</a:t>
            </a:r>
          </a:p>
          <a:p>
            <a:pPr>
              <a:spcBef>
                <a:spcPct val="0"/>
              </a:spcBef>
              <a:spcAft>
                <a:spcPts val="1200"/>
              </a:spcAft>
            </a:pPr>
            <a:r>
              <a:rPr lang="en-US" altLang="en-US" dirty="0"/>
              <a:t>The introduction of attenuator or other filters (such as band pass filters) into the beam path may pose safety concerns as it generates back reflections that need to be controlled at all time. </a:t>
            </a:r>
          </a:p>
          <a:p>
            <a:pPr>
              <a:spcBef>
                <a:spcPct val="0"/>
              </a:spcBef>
              <a:spcAft>
                <a:spcPts val="1200"/>
              </a:spcAft>
            </a:pPr>
            <a:r>
              <a:rPr lang="en-US" altLang="en-US" dirty="0"/>
              <a:t>The neutral density filter used in this exercise is:</a:t>
            </a:r>
          </a:p>
          <a:p>
            <a:pPr lvl="1">
              <a:spcBef>
                <a:spcPct val="0"/>
              </a:spcBef>
              <a:spcAft>
                <a:spcPts val="1200"/>
              </a:spcAft>
            </a:pPr>
            <a:r>
              <a:rPr lang="en-US" altLang="en-US" dirty="0"/>
              <a:t> NE203B, 50.8mm Square Absorptive ND Filter, ND=0.3</a:t>
            </a:r>
          </a:p>
          <a:p>
            <a:pPr>
              <a:spcBef>
                <a:spcPct val="0"/>
              </a:spcBef>
              <a:spcAft>
                <a:spcPts val="1200"/>
              </a:spcAft>
            </a:pPr>
            <a:endParaRPr lang="en-US" altLang="en-US" b="1" u="sng" dirty="0"/>
          </a:p>
          <a:p>
            <a:pPr>
              <a:spcBef>
                <a:spcPct val="0"/>
              </a:spcBef>
              <a:spcAft>
                <a:spcPts val="1200"/>
              </a:spcAft>
            </a:pPr>
            <a:r>
              <a:rPr lang="en-US" altLang="en-US" b="1" u="sng" dirty="0"/>
              <a:t>Tools</a:t>
            </a:r>
          </a:p>
          <a:p>
            <a:pPr marL="285750" indent="-285750">
              <a:spcAft>
                <a:spcPts val="600"/>
              </a:spcAft>
              <a:buFont typeface="Arial" panose="020B0604020202020204" pitchFamily="34" charset="0"/>
              <a:buChar char="•"/>
            </a:pPr>
            <a:r>
              <a:rPr lang="en-US" altLang="en-US" dirty="0"/>
              <a:t>Laser protective eyewear for 532 nm</a:t>
            </a:r>
          </a:p>
          <a:p>
            <a:pPr marL="285750" indent="-285750">
              <a:spcAft>
                <a:spcPts val="600"/>
              </a:spcAft>
              <a:buFont typeface="Arial" panose="020B0604020202020204" pitchFamily="34" charset="0"/>
              <a:buChar char="•"/>
            </a:pPr>
            <a:r>
              <a:rPr lang="en-US" altLang="en-US" dirty="0"/>
              <a:t>Beam blocks</a:t>
            </a:r>
          </a:p>
          <a:p>
            <a:pPr marL="285750" indent="-285750">
              <a:spcAft>
                <a:spcPts val="600"/>
              </a:spcAft>
              <a:buFont typeface="Arial" panose="020B0604020202020204" pitchFamily="34" charset="0"/>
              <a:buChar char="•"/>
            </a:pPr>
            <a:r>
              <a:rPr lang="en-US" altLang="en-US" dirty="0"/>
              <a:t>Fluorescent cards</a:t>
            </a:r>
          </a:p>
        </p:txBody>
      </p:sp>
      <p:cxnSp>
        <p:nvCxnSpPr>
          <p:cNvPr id="22" name="Straight Connector 21"/>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grpSp>
        <p:nvGrpSpPr>
          <p:cNvPr id="21" name="Group 74"/>
          <p:cNvGrpSpPr>
            <a:grpSpLocks/>
          </p:cNvGrpSpPr>
          <p:nvPr/>
        </p:nvGrpSpPr>
        <p:grpSpPr bwMode="auto">
          <a:xfrm>
            <a:off x="5423812" y="4367814"/>
            <a:ext cx="3091537" cy="1818413"/>
            <a:chOff x="4779065" y="4846276"/>
            <a:chExt cx="2039116" cy="1330983"/>
          </a:xfrm>
        </p:grpSpPr>
        <p:pic>
          <p:nvPicPr>
            <p:cNvPr id="23" name="Picture 7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42536" y="4846276"/>
              <a:ext cx="1775645" cy="1330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 name="Group 47"/>
            <p:cNvGrpSpPr>
              <a:grpSpLocks/>
            </p:cNvGrpSpPr>
            <p:nvPr/>
          </p:nvGrpSpPr>
          <p:grpSpPr bwMode="auto">
            <a:xfrm>
              <a:off x="4779065" y="5141545"/>
              <a:ext cx="1803414" cy="427005"/>
              <a:chOff x="4779065" y="5141545"/>
              <a:chExt cx="1803414" cy="427005"/>
            </a:xfrm>
          </p:grpSpPr>
          <p:grpSp>
            <p:nvGrpSpPr>
              <p:cNvPr id="25" name="Group 73"/>
              <p:cNvGrpSpPr>
                <a:grpSpLocks/>
              </p:cNvGrpSpPr>
              <p:nvPr/>
            </p:nvGrpSpPr>
            <p:grpSpPr bwMode="auto">
              <a:xfrm>
                <a:off x="4783608" y="5141545"/>
                <a:ext cx="1798871" cy="427005"/>
                <a:chOff x="4783608" y="5141545"/>
                <a:chExt cx="1798871" cy="427005"/>
              </a:xfrm>
            </p:grpSpPr>
            <p:cxnSp>
              <p:nvCxnSpPr>
                <p:cNvPr id="27" name="Straight Connector 26"/>
                <p:cNvCxnSpPr/>
                <p:nvPr/>
              </p:nvCxnSpPr>
              <p:spPr>
                <a:xfrm flipV="1">
                  <a:off x="4783608" y="5323249"/>
                  <a:ext cx="1040256" cy="245301"/>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flipV="1">
                  <a:off x="6246326" y="5141545"/>
                  <a:ext cx="336153" cy="77224"/>
                </a:xfrm>
                <a:prstGeom prst="line">
                  <a:avLst/>
                </a:prstGeom>
                <a:ln>
                  <a:solidFill>
                    <a:srgbClr val="C70202"/>
                  </a:solidFill>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flipV="1">
                  <a:off x="5823864" y="5223312"/>
                  <a:ext cx="427005" cy="99937"/>
                </a:xfrm>
                <a:prstGeom prst="line">
                  <a:avLst/>
                </a:prstGeom>
                <a:ln>
                  <a:solidFill>
                    <a:srgbClr val="C70202">
                      <a:alpha val="43000"/>
                    </a:srgbClr>
                  </a:solidFill>
                  <a:prstDash val="sysDash"/>
                  <a:tailEnd type="none"/>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cxnSp>
            <p:nvCxnSpPr>
              <p:cNvPr id="26" name="Straight Connector 25"/>
              <p:cNvCxnSpPr/>
              <p:nvPr/>
            </p:nvCxnSpPr>
            <p:spPr>
              <a:xfrm rot="10800000">
                <a:off x="4779065" y="5300536"/>
                <a:ext cx="1053884" cy="18170"/>
              </a:xfrm>
              <a:prstGeom prst="line">
                <a:avLst/>
              </a:prstGeom>
              <a:ln>
                <a:solidFill>
                  <a:srgbClr val="C70202">
                    <a:alpha val="50000"/>
                  </a:srgbClr>
                </a:solidFill>
                <a:prstDash val="lgDash"/>
                <a:tailEnd type="arrow"/>
              </a:ln>
              <a:effectLst>
                <a:glow rad="88900">
                  <a:srgbClr val="C70202">
                    <a:alpha val="8000"/>
                  </a:srgbClr>
                </a:glow>
                <a:outerShdw blurRad="101600" dist="20000" dir="3780000" rotWithShape="0">
                  <a:srgbClr val="C70202"/>
                </a:outerShdw>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691436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602" y="15895"/>
            <a:ext cx="8829184" cy="750608"/>
          </a:xfrm>
        </p:spPr>
        <p:txBody>
          <a:bodyPr>
            <a:normAutofit/>
          </a:bodyPr>
          <a:lstStyle/>
          <a:p>
            <a:r>
              <a:rPr lang="en-US" sz="3600" b="1" dirty="0">
                <a:solidFill>
                  <a:schemeClr val="accent5">
                    <a:lumMod val="75000"/>
                  </a:schemeClr>
                </a:solidFill>
              </a:rPr>
              <a:t>Attenuation Filters</a:t>
            </a:r>
          </a:p>
        </p:txBody>
      </p:sp>
      <p:sp>
        <p:nvSpPr>
          <p:cNvPr id="12" name="Slide Number Placeholder 11"/>
          <p:cNvSpPr>
            <a:spLocks noGrp="1"/>
          </p:cNvSpPr>
          <p:nvPr>
            <p:ph type="sldNum" sz="quarter" idx="12"/>
          </p:nvPr>
        </p:nvSpPr>
        <p:spPr/>
        <p:txBody>
          <a:bodyPr/>
          <a:lstStyle/>
          <a:p>
            <a:fld id="{9A8DD42E-82A4-4B2D-82BB-498554518294}" type="slidenum">
              <a:rPr lang="en-US" smtClean="0"/>
              <a:t>14</a:t>
            </a:fld>
            <a:endParaRPr lang="en-US"/>
          </a:p>
        </p:txBody>
      </p:sp>
      <p:sp>
        <p:nvSpPr>
          <p:cNvPr id="14" name="Rectangle 20"/>
          <p:cNvSpPr>
            <a:spLocks noChangeArrowheads="1"/>
          </p:cNvSpPr>
          <p:nvPr/>
        </p:nvSpPr>
        <p:spPr bwMode="auto">
          <a:xfrm>
            <a:off x="176617" y="3413110"/>
            <a:ext cx="8523798" cy="30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92100">
              <a:spcBef>
                <a:spcPct val="20000"/>
              </a:spcBef>
              <a:buFont typeface="Arial" panose="020B0604020202020204" pitchFamily="34" charset="0"/>
              <a:buChar char="•"/>
              <a:tabLst>
                <a:tab pos="1371600" algn="l"/>
              </a:tabLst>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tabLst>
                <a:tab pos="1371600" algn="l"/>
              </a:tabLst>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tabLst>
                <a:tab pos="1371600" algn="l"/>
              </a:tabLst>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tabLst>
                <a:tab pos="1371600" algn="l"/>
              </a:tabLst>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spcAft>
                <a:spcPts val="400"/>
              </a:spcAft>
              <a:buNone/>
            </a:pPr>
            <a:r>
              <a:rPr lang="en-US" altLang="en-US" sz="1400" b="1" u="sng" dirty="0"/>
              <a:t>TASKS:</a:t>
            </a:r>
          </a:p>
          <a:p>
            <a:pPr marL="635000" indent="-342900">
              <a:spcBef>
                <a:spcPct val="0"/>
              </a:spcBef>
              <a:spcAft>
                <a:spcPts val="400"/>
              </a:spcAft>
              <a:buFontTx/>
              <a:buAutoNum type="arabicPeriod"/>
            </a:pPr>
            <a:r>
              <a:rPr lang="en-US" altLang="en-US" sz="1400" dirty="0"/>
              <a:t>Start with the laser beam blocked or disabled. Use the already aligned beam in Exercise #5.</a:t>
            </a:r>
          </a:p>
          <a:p>
            <a:pPr marL="635000" indent="-342900">
              <a:spcBef>
                <a:spcPct val="0"/>
              </a:spcBef>
              <a:spcAft>
                <a:spcPts val="400"/>
              </a:spcAft>
              <a:buFontTx/>
              <a:buAutoNum type="arabicPeriod"/>
            </a:pPr>
            <a:r>
              <a:rPr lang="en-US" altLang="en-US" sz="1400" dirty="0"/>
              <a:t>Place a beam block at front of the periscope.</a:t>
            </a:r>
          </a:p>
          <a:p>
            <a:pPr marL="635000" indent="-342900">
              <a:spcBef>
                <a:spcPct val="0"/>
              </a:spcBef>
              <a:spcAft>
                <a:spcPts val="400"/>
              </a:spcAft>
              <a:buFontTx/>
              <a:buAutoNum type="arabicPeriod"/>
            </a:pPr>
            <a:r>
              <a:rPr lang="en-US" altLang="en-US" sz="1400" dirty="0"/>
              <a:t>Insert the ND filter </a:t>
            </a:r>
            <a:r>
              <a:rPr lang="en-US" sz="1400" dirty="0"/>
              <a:t>intentionally offset</a:t>
            </a:r>
            <a:r>
              <a:rPr lang="en-US" altLang="en-US" sz="1400" dirty="0"/>
              <a:t>. </a:t>
            </a:r>
            <a:r>
              <a:rPr lang="en-US" sz="1400" dirty="0"/>
              <a:t>Hold the detector card close to the filter in the way you know the reflection will go before unblocking.  </a:t>
            </a:r>
          </a:p>
          <a:p>
            <a:pPr marL="635000" indent="-342900">
              <a:spcBef>
                <a:spcPct val="0"/>
              </a:spcBef>
              <a:spcAft>
                <a:spcPts val="400"/>
              </a:spcAft>
              <a:buFontTx/>
              <a:buAutoNum type="arabicPeriod"/>
            </a:pPr>
            <a:r>
              <a:rPr lang="en-US" altLang="en-US" sz="1400" dirty="0"/>
              <a:t>Open the beam. </a:t>
            </a:r>
            <a:r>
              <a:rPr lang="en-US" sz="1400" dirty="0"/>
              <a:t>If practiced correctly, the beam is always on the card. </a:t>
            </a:r>
            <a:r>
              <a:rPr lang="en-US" altLang="en-US" sz="1400" dirty="0"/>
              <a:t>Rotate the filter to the right position while holding the card. This way the reflected beam is </a:t>
            </a:r>
            <a:r>
              <a:rPr lang="en-US" sz="1400" dirty="0"/>
              <a:t>never uncontrolled. </a:t>
            </a:r>
            <a:endParaRPr lang="en-US" altLang="en-US" sz="1400" dirty="0"/>
          </a:p>
          <a:p>
            <a:pPr marL="635000" indent="-342900">
              <a:spcBef>
                <a:spcPct val="0"/>
              </a:spcBef>
              <a:spcAft>
                <a:spcPts val="400"/>
              </a:spcAft>
              <a:buFontTx/>
              <a:buAutoNum type="arabicPeriod"/>
            </a:pPr>
            <a:r>
              <a:rPr lang="en-US" sz="1400" dirty="0"/>
              <a:t>Once the filter is in the final position, block the reflected beam.</a:t>
            </a:r>
            <a:r>
              <a:rPr lang="en-US" altLang="en-US" sz="1400" dirty="0"/>
              <a:t> </a:t>
            </a:r>
          </a:p>
          <a:p>
            <a:pPr marL="635000" indent="-342900">
              <a:spcBef>
                <a:spcPct val="0"/>
              </a:spcBef>
              <a:spcAft>
                <a:spcPts val="400"/>
              </a:spcAft>
              <a:buFontTx/>
              <a:buAutoNum type="arabicPeriod"/>
            </a:pPr>
            <a:r>
              <a:rPr lang="en-US" altLang="en-US" sz="1400" dirty="0"/>
              <a:t>If desired, remove the beam block behind the ND filter and continue aligning the beam as in previous exercise.</a:t>
            </a:r>
          </a:p>
          <a:p>
            <a:pPr marL="635000" indent="-342900">
              <a:spcBef>
                <a:spcPct val="0"/>
              </a:spcBef>
              <a:spcAft>
                <a:spcPts val="400"/>
              </a:spcAft>
              <a:buFontTx/>
              <a:buAutoNum type="arabicPeriod"/>
            </a:pPr>
            <a:r>
              <a:rPr lang="en-US" altLang="en-US" sz="1400" dirty="0"/>
              <a:t>Verify that there are no stray beams and all beams are contained.</a:t>
            </a:r>
          </a:p>
          <a:p>
            <a:pPr marL="635000" indent="-342900">
              <a:spcBef>
                <a:spcPct val="0"/>
              </a:spcBef>
              <a:spcAft>
                <a:spcPts val="400"/>
              </a:spcAft>
              <a:buFontTx/>
              <a:buAutoNum type="arabicPeriod"/>
            </a:pPr>
            <a:r>
              <a:rPr lang="en-US" altLang="en-US" sz="1400" dirty="0"/>
              <a:t>Block the laser or turn it off.</a:t>
            </a:r>
          </a:p>
        </p:txBody>
      </p:sp>
      <p:cxnSp>
        <p:nvCxnSpPr>
          <p:cNvPr id="123" name="Straight Connector 122"/>
          <p:cNvCxnSpPr/>
          <p:nvPr/>
        </p:nvCxnSpPr>
        <p:spPr>
          <a:xfrm>
            <a:off x="150920" y="765647"/>
            <a:ext cx="848705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58" name="TextBox 77"/>
          <p:cNvSpPr txBox="1">
            <a:spLocks noChangeArrowheads="1"/>
          </p:cNvSpPr>
          <p:nvPr/>
        </p:nvSpPr>
        <p:spPr bwMode="auto">
          <a:xfrm>
            <a:off x="2969910" y="2796876"/>
            <a:ext cx="11704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grpSp>
        <p:nvGrpSpPr>
          <p:cNvPr id="10" name="Group 9"/>
          <p:cNvGrpSpPr/>
          <p:nvPr/>
        </p:nvGrpSpPr>
        <p:grpSpPr>
          <a:xfrm>
            <a:off x="375103" y="907918"/>
            <a:ext cx="8069135" cy="2055398"/>
            <a:chOff x="446215" y="1041183"/>
            <a:chExt cx="8069135" cy="2055398"/>
          </a:xfrm>
        </p:grpSpPr>
        <p:grpSp>
          <p:nvGrpSpPr>
            <p:cNvPr id="62" name="Group 61"/>
            <p:cNvGrpSpPr/>
            <p:nvPr/>
          </p:nvGrpSpPr>
          <p:grpSpPr>
            <a:xfrm>
              <a:off x="1307524" y="1041183"/>
              <a:ext cx="7207826" cy="2055398"/>
              <a:chOff x="730912" y="3572515"/>
              <a:chExt cx="8552366" cy="2300987"/>
            </a:xfrm>
          </p:grpSpPr>
          <p:grpSp>
            <p:nvGrpSpPr>
              <p:cNvPr id="63" name="Group 1"/>
              <p:cNvGrpSpPr>
                <a:grpSpLocks/>
              </p:cNvGrpSpPr>
              <p:nvPr/>
            </p:nvGrpSpPr>
            <p:grpSpPr bwMode="auto">
              <a:xfrm>
                <a:off x="730912" y="3572515"/>
                <a:ext cx="7886531" cy="2300987"/>
                <a:chOff x="355775" y="4742572"/>
                <a:chExt cx="7886530" cy="2204010"/>
              </a:xfrm>
            </p:grpSpPr>
            <p:sp>
              <p:nvSpPr>
                <p:cNvPr id="74" name="Oval 73"/>
                <p:cNvSpPr>
                  <a:spLocks noChangeArrowheads="1"/>
                </p:cNvSpPr>
                <p:nvPr/>
              </p:nvSpPr>
              <p:spPr bwMode="auto">
                <a:xfrm rot="2341005">
                  <a:off x="5088694" y="6479296"/>
                  <a:ext cx="376071" cy="148489"/>
                </a:xfrm>
                <a:prstGeom prst="ellipse">
                  <a:avLst/>
                </a:prstGeom>
                <a:solidFill>
                  <a:srgbClr val="7F7F7F"/>
                </a:solidFill>
                <a:ln w="9525">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grpSp>
              <p:nvGrpSpPr>
                <p:cNvPr id="75" name="Group 21"/>
                <p:cNvGrpSpPr>
                  <a:grpSpLocks/>
                </p:cNvGrpSpPr>
                <p:nvPr/>
              </p:nvGrpSpPr>
              <p:grpSpPr bwMode="auto">
                <a:xfrm>
                  <a:off x="2027238" y="5715000"/>
                  <a:ext cx="152400" cy="609600"/>
                  <a:chOff x="1968" y="2448"/>
                  <a:chExt cx="192" cy="384"/>
                </a:xfrm>
              </p:grpSpPr>
              <p:grpSp>
                <p:nvGrpSpPr>
                  <p:cNvPr id="98" name="Group 22"/>
                  <p:cNvGrpSpPr>
                    <a:grpSpLocks/>
                  </p:cNvGrpSpPr>
                  <p:nvPr/>
                </p:nvGrpSpPr>
                <p:grpSpPr bwMode="auto">
                  <a:xfrm>
                    <a:off x="1968" y="2448"/>
                    <a:ext cx="192" cy="144"/>
                    <a:chOff x="1968" y="2448"/>
                    <a:chExt cx="192" cy="144"/>
                  </a:xfrm>
                </p:grpSpPr>
                <p:sp>
                  <p:nvSpPr>
                    <p:cNvPr id="102" name="Line 23"/>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 name="Line 24"/>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9" name="Group 25"/>
                  <p:cNvGrpSpPr>
                    <a:grpSpLocks/>
                  </p:cNvGrpSpPr>
                  <p:nvPr/>
                </p:nvGrpSpPr>
                <p:grpSpPr bwMode="auto">
                  <a:xfrm rot="10800000">
                    <a:off x="1968" y="2688"/>
                    <a:ext cx="192" cy="144"/>
                    <a:chOff x="1968" y="2448"/>
                    <a:chExt cx="192" cy="144"/>
                  </a:xfrm>
                </p:grpSpPr>
                <p:sp>
                  <p:nvSpPr>
                    <p:cNvPr id="100" name="Line 26"/>
                    <p:cNvSpPr>
                      <a:spLocks noChangeShapeType="1"/>
                    </p:cNvSpPr>
                    <p:nvPr/>
                  </p:nvSpPr>
                  <p:spPr bwMode="auto">
                    <a:xfrm>
                      <a:off x="1968" y="2592"/>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1" name="Line 27"/>
                    <p:cNvSpPr>
                      <a:spLocks noChangeShapeType="1"/>
                    </p:cNvSpPr>
                    <p:nvPr/>
                  </p:nvSpPr>
                  <p:spPr bwMode="auto">
                    <a:xfrm flipV="1">
                      <a:off x="2064" y="2448"/>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76" name="Rectangle 75"/>
                <p:cNvSpPr>
                  <a:spLocks noChangeArrowheads="1"/>
                </p:cNvSpPr>
                <p:nvPr/>
              </p:nvSpPr>
              <p:spPr bwMode="auto">
                <a:xfrm>
                  <a:off x="530226" y="5834063"/>
                  <a:ext cx="1052512" cy="354012"/>
                </a:xfrm>
                <a:prstGeom prst="rect">
                  <a:avLst/>
                </a:prstGeom>
                <a:solidFill>
                  <a:srgbClr val="92D050"/>
                </a:solidFill>
                <a:ln w="9525">
                  <a:solidFill>
                    <a:schemeClr val="tx1"/>
                  </a:solidFill>
                  <a:miter lim="800000"/>
                  <a:headEnd/>
                  <a:tailEnd/>
                </a:ln>
                <a:effectLst>
                  <a:outerShdw dist="23000" dir="5400000" rotWithShape="0">
                    <a:srgbClr val="808080">
                      <a:alpha val="34999"/>
                    </a:srgbClr>
                  </a:outerShdw>
                </a:effectLst>
              </p:spPr>
              <p:txBody>
                <a:bodyPr anchor="ctr"/>
                <a:lstStyle/>
                <a:p>
                  <a:pPr algn="ctr">
                    <a:defRPr/>
                  </a:pPr>
                  <a:r>
                    <a:rPr lang="en-US" sz="1200" cap="small" dirty="0"/>
                    <a:t>Diode Laser</a:t>
                  </a:r>
                </a:p>
              </p:txBody>
            </p:sp>
            <p:sp>
              <p:nvSpPr>
                <p:cNvPr id="80" name="Oval 79"/>
                <p:cNvSpPr>
                  <a:spLocks noChangeArrowheads="1"/>
                </p:cNvSpPr>
                <p:nvPr/>
              </p:nvSpPr>
              <p:spPr bwMode="auto">
                <a:xfrm rot="2511275">
                  <a:off x="5088770" y="5916025"/>
                  <a:ext cx="379671" cy="147747"/>
                </a:xfrm>
                <a:prstGeom prst="ellipse">
                  <a:avLst/>
                </a:prstGeom>
                <a:solidFill>
                  <a:srgbClr val="7F7F7F"/>
                </a:solidFill>
                <a:ln w="9525">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grpSp>
              <p:nvGrpSpPr>
                <p:cNvPr id="77" name="Group 21"/>
                <p:cNvGrpSpPr>
                  <a:grpSpLocks/>
                </p:cNvGrpSpPr>
                <p:nvPr/>
              </p:nvGrpSpPr>
              <p:grpSpPr bwMode="auto">
                <a:xfrm>
                  <a:off x="3136107" y="5689603"/>
                  <a:ext cx="152400" cy="598488"/>
                  <a:chOff x="881" y="2436"/>
                  <a:chExt cx="192" cy="377"/>
                </a:xfrm>
              </p:grpSpPr>
              <p:grpSp>
                <p:nvGrpSpPr>
                  <p:cNvPr id="92" name="Group 22"/>
                  <p:cNvGrpSpPr>
                    <a:grpSpLocks/>
                  </p:cNvGrpSpPr>
                  <p:nvPr/>
                </p:nvGrpSpPr>
                <p:grpSpPr bwMode="auto">
                  <a:xfrm>
                    <a:off x="881" y="2436"/>
                    <a:ext cx="192" cy="160"/>
                    <a:chOff x="881" y="2436"/>
                    <a:chExt cx="192" cy="160"/>
                  </a:xfrm>
                </p:grpSpPr>
                <p:sp>
                  <p:nvSpPr>
                    <p:cNvPr id="96" name="Line 23"/>
                    <p:cNvSpPr>
                      <a:spLocks noChangeShapeType="1"/>
                    </p:cNvSpPr>
                    <p:nvPr/>
                  </p:nvSpPr>
                  <p:spPr bwMode="auto">
                    <a:xfrm>
                      <a:off x="881" y="2596"/>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 name="Line 24"/>
                    <p:cNvSpPr>
                      <a:spLocks noChangeShapeType="1"/>
                    </p:cNvSpPr>
                    <p:nvPr/>
                  </p:nvSpPr>
                  <p:spPr bwMode="auto">
                    <a:xfrm flipV="1">
                      <a:off x="982" y="2436"/>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7" name="Line 27"/>
                  <p:cNvSpPr>
                    <a:spLocks noChangeShapeType="1"/>
                  </p:cNvSpPr>
                  <p:nvPr/>
                </p:nvSpPr>
                <p:spPr bwMode="auto">
                  <a:xfrm rot="10800000" flipV="1">
                    <a:off x="982" y="2669"/>
                    <a:ext cx="0" cy="14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3" name="Freeform 82"/>
                <p:cNvSpPr/>
                <p:nvPr/>
              </p:nvSpPr>
              <p:spPr>
                <a:xfrm rot="5400000" flipH="1">
                  <a:off x="1772879" y="6245948"/>
                  <a:ext cx="782406" cy="618862"/>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84" name="TextBox 101"/>
                <p:cNvSpPr txBox="1">
                  <a:spLocks noChangeArrowheads="1"/>
                </p:cNvSpPr>
                <p:nvPr/>
              </p:nvSpPr>
              <p:spPr bwMode="auto">
                <a:xfrm>
                  <a:off x="2697371" y="4742572"/>
                  <a:ext cx="1481137" cy="29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BEAM BLOCK</a:t>
                  </a:r>
                  <a:endParaRPr lang="en-US" altLang="en-US" sz="1200" dirty="0"/>
                </a:p>
              </p:txBody>
            </p:sp>
            <p:sp>
              <p:nvSpPr>
                <p:cNvPr id="85" name="Freeform 84"/>
                <p:cNvSpPr/>
                <p:nvPr/>
              </p:nvSpPr>
              <p:spPr>
                <a:xfrm rot="5400000" flipH="1">
                  <a:off x="2182536" y="6184327"/>
                  <a:ext cx="460203" cy="455530"/>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86" name="TextBox 103"/>
                <p:cNvSpPr txBox="1">
                  <a:spLocks noChangeArrowheads="1"/>
                </p:cNvSpPr>
                <p:nvPr/>
              </p:nvSpPr>
              <p:spPr bwMode="auto">
                <a:xfrm>
                  <a:off x="2271029" y="6466457"/>
                  <a:ext cx="844177" cy="28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ct val="0"/>
                    </a:spcBef>
                    <a:buFontTx/>
                    <a:buNone/>
                  </a:pPr>
                  <a:r>
                    <a:rPr lang="en-US" altLang="en-US" sz="1100" b="1" dirty="0"/>
                    <a:t>IRISES</a:t>
                  </a:r>
                </a:p>
              </p:txBody>
            </p:sp>
            <p:sp>
              <p:nvSpPr>
                <p:cNvPr id="87" name="Freeform 86"/>
                <p:cNvSpPr/>
                <p:nvPr/>
              </p:nvSpPr>
              <p:spPr>
                <a:xfrm rot="5400000" flipH="1" flipV="1">
                  <a:off x="2718856" y="6192638"/>
                  <a:ext cx="486397" cy="424398"/>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89" name="Freeform 88"/>
                <p:cNvSpPr/>
                <p:nvPr/>
              </p:nvSpPr>
              <p:spPr>
                <a:xfrm rot="19977625" flipH="1">
                  <a:off x="5267648" y="5501534"/>
                  <a:ext cx="810064" cy="171183"/>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sp>
              <p:nvSpPr>
                <p:cNvPr id="90" name="TextBox 110"/>
                <p:cNvSpPr txBox="1">
                  <a:spLocks noChangeArrowheads="1"/>
                </p:cNvSpPr>
                <p:nvPr/>
              </p:nvSpPr>
              <p:spPr bwMode="auto">
                <a:xfrm>
                  <a:off x="355775" y="6194425"/>
                  <a:ext cx="1471437" cy="29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5mW, 532 nm</a:t>
                  </a:r>
                  <a:endParaRPr lang="en-US" altLang="en-US" sz="1200" dirty="0"/>
                </a:p>
              </p:txBody>
            </p:sp>
            <p:sp>
              <p:nvSpPr>
                <p:cNvPr id="91" name="Freeform 90"/>
                <p:cNvSpPr/>
                <p:nvPr/>
              </p:nvSpPr>
              <p:spPr>
                <a:xfrm rot="5400000" flipH="1">
                  <a:off x="7729263" y="6330457"/>
                  <a:ext cx="406044" cy="620041"/>
                </a:xfrm>
                <a:custGeom>
                  <a:avLst/>
                  <a:gdLst>
                    <a:gd name="connsiteX0" fmla="*/ 0 w 1198035"/>
                    <a:gd name="connsiteY0" fmla="*/ 0 h 742863"/>
                    <a:gd name="connsiteX1" fmla="*/ 1198035 w 1198035"/>
                    <a:gd name="connsiteY1" fmla="*/ 742863 h 742863"/>
                    <a:gd name="connsiteX0" fmla="*/ 0 w 1198035"/>
                    <a:gd name="connsiteY0" fmla="*/ 0 h 742863"/>
                    <a:gd name="connsiteX1" fmla="*/ 137955 w 1198035"/>
                    <a:gd name="connsiteY1" fmla="*/ 78197 h 742863"/>
                    <a:gd name="connsiteX2" fmla="*/ 1198035 w 1198035"/>
                    <a:gd name="connsiteY2" fmla="*/ 742863 h 742863"/>
                    <a:gd name="connsiteX0" fmla="*/ 0 w 1532033"/>
                    <a:gd name="connsiteY0" fmla="*/ 0 h 1047828"/>
                    <a:gd name="connsiteX1" fmla="*/ 471953 w 1532033"/>
                    <a:gd name="connsiteY1" fmla="*/ 383162 h 1047828"/>
                    <a:gd name="connsiteX2" fmla="*/ 1532033 w 1532033"/>
                    <a:gd name="connsiteY2" fmla="*/ 1047828 h 1047828"/>
                    <a:gd name="connsiteX0" fmla="*/ 0 w 1532033"/>
                    <a:gd name="connsiteY0" fmla="*/ 0 h 1047828"/>
                    <a:gd name="connsiteX1" fmla="*/ 348519 w 1532033"/>
                    <a:gd name="connsiteY1" fmla="*/ 218950 h 1047828"/>
                    <a:gd name="connsiteX2" fmla="*/ 1532033 w 1532033"/>
                    <a:gd name="connsiteY2" fmla="*/ 1047828 h 1047828"/>
                    <a:gd name="connsiteX0" fmla="*/ 1 w 1183514"/>
                    <a:gd name="connsiteY0" fmla="*/ 179850 h 828878"/>
                    <a:gd name="connsiteX1" fmla="*/ 0 w 1183514"/>
                    <a:gd name="connsiteY1" fmla="*/ 0 h 828878"/>
                    <a:gd name="connsiteX2" fmla="*/ 1183514 w 1183514"/>
                    <a:gd name="connsiteY2" fmla="*/ 828878 h 828878"/>
                    <a:gd name="connsiteX0" fmla="*/ 1 w 1183514"/>
                    <a:gd name="connsiteY0" fmla="*/ 59950 h 1134825"/>
                    <a:gd name="connsiteX1" fmla="*/ 0 w 1183514"/>
                    <a:gd name="connsiteY1" fmla="*/ 305947 h 1134825"/>
                    <a:gd name="connsiteX2" fmla="*/ 1183514 w 1183514"/>
                    <a:gd name="connsiteY2" fmla="*/ 1134825 h 1134825"/>
                  </a:gdLst>
                  <a:ahLst/>
                  <a:cxnLst>
                    <a:cxn ang="0">
                      <a:pos x="connsiteX0" y="connsiteY0"/>
                    </a:cxn>
                    <a:cxn ang="0">
                      <a:pos x="connsiteX1" y="connsiteY1"/>
                    </a:cxn>
                    <a:cxn ang="0">
                      <a:pos x="connsiteX2" y="connsiteY2"/>
                    </a:cxn>
                  </a:cxnLst>
                  <a:rect l="l" t="t" r="r" b="b"/>
                  <a:pathLst>
                    <a:path w="1183514" h="1134825">
                      <a:moveTo>
                        <a:pt x="1" y="59950"/>
                      </a:moveTo>
                      <a:cubicBezTo>
                        <a:pt x="1" y="0"/>
                        <a:pt x="0" y="365897"/>
                        <a:pt x="0" y="305947"/>
                      </a:cubicBezTo>
                      <a:cubicBezTo>
                        <a:pt x="261390" y="475371"/>
                        <a:pt x="784169" y="887204"/>
                        <a:pt x="1183514" y="1134825"/>
                      </a:cubicBezTo>
                    </a:path>
                  </a:pathLst>
                </a:custGeom>
                <a:ln>
                  <a:solidFill>
                    <a:schemeClr val="tx1">
                      <a:lumMod val="65000"/>
                      <a:lumOff val="35000"/>
                    </a:schemeClr>
                  </a:solidFill>
                  <a:prstDash val="sysDot"/>
                  <a:tailEnd type="triangle" w="sm" len="lg"/>
                </a:ln>
                <a:effectLst/>
              </p:spPr>
              <p:style>
                <a:lnRef idx="2">
                  <a:schemeClr val="accent1"/>
                </a:lnRef>
                <a:fillRef idx="0">
                  <a:schemeClr val="accent1"/>
                </a:fillRef>
                <a:effectRef idx="1">
                  <a:schemeClr val="accent1"/>
                </a:effectRef>
                <a:fontRef idx="minor">
                  <a:schemeClr val="tx1"/>
                </a:fontRef>
              </p:style>
              <p:txBody>
                <a:bodyPr anchor="ctr"/>
                <a:lstStyle/>
                <a:p>
                  <a:pPr algn="ctr">
                    <a:defRPr/>
                  </a:pPr>
                  <a:endParaRPr lang="en-US"/>
                </a:p>
              </p:txBody>
            </p:sp>
            <p:cxnSp>
              <p:nvCxnSpPr>
                <p:cNvPr id="82" name="Straight Connector 66"/>
                <p:cNvCxnSpPr>
                  <a:cxnSpLocks noChangeShapeType="1"/>
                </p:cNvCxnSpPr>
                <p:nvPr/>
              </p:nvCxnSpPr>
              <p:spPr bwMode="auto">
                <a:xfrm rot="5400000">
                  <a:off x="1612106" y="6022182"/>
                  <a:ext cx="377825" cy="1588"/>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64" name="TextBox 111"/>
              <p:cNvSpPr txBox="1">
                <a:spLocks noChangeArrowheads="1"/>
              </p:cNvSpPr>
              <p:nvPr/>
            </p:nvSpPr>
            <p:spPr bwMode="auto">
              <a:xfrm>
                <a:off x="6285943" y="3748959"/>
                <a:ext cx="1481138" cy="516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PERISCOPE ASSEMBLY</a:t>
                </a:r>
                <a:endParaRPr lang="en-US" altLang="en-US" sz="1200" dirty="0"/>
              </a:p>
            </p:txBody>
          </p:sp>
          <p:sp>
            <p:nvSpPr>
              <p:cNvPr id="65" name="TextBox 108"/>
              <p:cNvSpPr txBox="1">
                <a:spLocks noChangeArrowheads="1"/>
              </p:cNvSpPr>
              <p:nvPr/>
            </p:nvSpPr>
            <p:spPr bwMode="auto">
              <a:xfrm>
                <a:off x="8356178" y="5493045"/>
                <a:ext cx="927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TARGET</a:t>
                </a:r>
                <a:endParaRPr lang="en-US" altLang="en-US" sz="1200" dirty="0"/>
              </a:p>
            </p:txBody>
          </p:sp>
          <p:grpSp>
            <p:nvGrpSpPr>
              <p:cNvPr id="67" name="Group 96"/>
              <p:cNvGrpSpPr>
                <a:grpSpLocks/>
              </p:cNvGrpSpPr>
              <p:nvPr/>
            </p:nvGrpSpPr>
            <p:grpSpPr bwMode="auto">
              <a:xfrm>
                <a:off x="7373079" y="4542591"/>
                <a:ext cx="720725" cy="914402"/>
                <a:chOff x="7185392" y="5280792"/>
                <a:chExt cx="720535" cy="914402"/>
              </a:xfrm>
            </p:grpSpPr>
            <p:grpSp>
              <p:nvGrpSpPr>
                <p:cNvPr id="68" name="Group 95"/>
                <p:cNvGrpSpPr>
                  <a:grpSpLocks/>
                </p:cNvGrpSpPr>
                <p:nvPr/>
              </p:nvGrpSpPr>
              <p:grpSpPr bwMode="auto">
                <a:xfrm rot="663067">
                  <a:off x="7312661" y="5416743"/>
                  <a:ext cx="533259" cy="673101"/>
                  <a:chOff x="7455862" y="5486938"/>
                  <a:chExt cx="533259" cy="673101"/>
                </a:xfrm>
              </p:grpSpPr>
              <p:sp>
                <p:nvSpPr>
                  <p:cNvPr id="71" name="Oval 70"/>
                  <p:cNvSpPr>
                    <a:spLocks noChangeArrowheads="1"/>
                  </p:cNvSpPr>
                  <p:nvPr/>
                </p:nvSpPr>
                <p:spPr bwMode="auto">
                  <a:xfrm>
                    <a:off x="7455862" y="5486938"/>
                    <a:ext cx="533259" cy="673100"/>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72" name="Oval 71"/>
                  <p:cNvSpPr>
                    <a:spLocks noChangeArrowheads="1"/>
                  </p:cNvSpPr>
                  <p:nvPr/>
                </p:nvSpPr>
                <p:spPr bwMode="auto">
                  <a:xfrm>
                    <a:off x="7522863" y="5585741"/>
                    <a:ext cx="379313" cy="481012"/>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73" name="Oval 72"/>
                  <p:cNvSpPr>
                    <a:spLocks noChangeArrowheads="1"/>
                  </p:cNvSpPr>
                  <p:nvPr/>
                </p:nvSpPr>
                <p:spPr bwMode="auto">
                  <a:xfrm>
                    <a:off x="7597927" y="5684273"/>
                    <a:ext cx="228540" cy="288925"/>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24" name="Oval 123"/>
                  <p:cNvSpPr>
                    <a:spLocks noChangeArrowheads="1"/>
                  </p:cNvSpPr>
                  <p:nvPr/>
                </p:nvSpPr>
                <p:spPr bwMode="auto">
                  <a:xfrm>
                    <a:off x="7455862" y="5486939"/>
                    <a:ext cx="533259" cy="673100"/>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25" name="Oval 124"/>
                  <p:cNvSpPr>
                    <a:spLocks noChangeArrowheads="1"/>
                  </p:cNvSpPr>
                  <p:nvPr/>
                </p:nvSpPr>
                <p:spPr bwMode="auto">
                  <a:xfrm>
                    <a:off x="7522863" y="5585742"/>
                    <a:ext cx="379313" cy="481012"/>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26" name="Oval 125"/>
                  <p:cNvSpPr>
                    <a:spLocks noChangeArrowheads="1"/>
                  </p:cNvSpPr>
                  <p:nvPr/>
                </p:nvSpPr>
                <p:spPr bwMode="auto">
                  <a:xfrm>
                    <a:off x="7597927" y="5684274"/>
                    <a:ext cx="228540" cy="288925"/>
                  </a:xfrm>
                  <a:prstGeom prst="ellipse">
                    <a:avLst/>
                  </a:prstGeom>
                  <a:noFill/>
                  <a:ln w="25400">
                    <a:solidFill>
                      <a:schemeClr val="tx1"/>
                    </a:solidFill>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grpSp>
            <p:cxnSp>
              <p:nvCxnSpPr>
                <p:cNvPr id="69" name="Straight Connector 92"/>
                <p:cNvCxnSpPr>
                  <a:cxnSpLocks noChangeShapeType="1"/>
                </p:cNvCxnSpPr>
                <p:nvPr/>
              </p:nvCxnSpPr>
              <p:spPr bwMode="auto">
                <a:xfrm rot="5400000">
                  <a:off x="7098851" y="5737198"/>
                  <a:ext cx="914400" cy="1588"/>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0" name="Straight Connector 93"/>
                <p:cNvCxnSpPr>
                  <a:cxnSpLocks noChangeShapeType="1"/>
                </p:cNvCxnSpPr>
                <p:nvPr/>
              </p:nvCxnSpPr>
              <p:spPr bwMode="auto">
                <a:xfrm>
                  <a:off x="7185392" y="5719488"/>
                  <a:ext cx="720535" cy="93663"/>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27" name="Straight Connector 92"/>
                <p:cNvCxnSpPr>
                  <a:cxnSpLocks noChangeShapeType="1"/>
                </p:cNvCxnSpPr>
                <p:nvPr/>
              </p:nvCxnSpPr>
              <p:spPr bwMode="auto">
                <a:xfrm rot="5400000">
                  <a:off x="7098851" y="5737200"/>
                  <a:ext cx="914400" cy="1588"/>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28" name="Straight Connector 93"/>
                <p:cNvCxnSpPr>
                  <a:cxnSpLocks noChangeShapeType="1"/>
                </p:cNvCxnSpPr>
                <p:nvPr/>
              </p:nvCxnSpPr>
              <p:spPr bwMode="auto">
                <a:xfrm>
                  <a:off x="7185392" y="5719489"/>
                  <a:ext cx="720535" cy="93663"/>
                </a:xfrm>
                <a:prstGeom prst="line">
                  <a:avLst/>
                </a:prstGeom>
                <a:noFill/>
                <a:ln w="254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grpSp>
        </p:grpSp>
        <p:sp>
          <p:nvSpPr>
            <p:cNvPr id="7" name="Rectangle 6"/>
            <p:cNvSpPr/>
            <p:nvPr/>
          </p:nvSpPr>
          <p:spPr>
            <a:xfrm>
              <a:off x="446215" y="1186979"/>
              <a:ext cx="1799532" cy="369332"/>
            </a:xfrm>
            <a:prstGeom prst="rect">
              <a:avLst/>
            </a:prstGeom>
          </p:spPr>
          <p:txBody>
            <a:bodyPr wrap="none">
              <a:spAutoFit/>
            </a:bodyPr>
            <a:lstStyle/>
            <a:p>
              <a:pPr>
                <a:spcBef>
                  <a:spcPct val="0"/>
                </a:spcBef>
                <a:spcAft>
                  <a:spcPts val="1200"/>
                </a:spcAft>
              </a:pPr>
              <a:r>
                <a:rPr lang="en-US" altLang="en-US" b="1" u="sng" dirty="0"/>
                <a:t>OPTICAL LAYOUT</a:t>
              </a:r>
            </a:p>
          </p:txBody>
        </p:sp>
        <p:cxnSp>
          <p:nvCxnSpPr>
            <p:cNvPr id="105" name="Straight Arrow Connector 104"/>
            <p:cNvCxnSpPr/>
            <p:nvPr/>
          </p:nvCxnSpPr>
          <p:spPr>
            <a:xfrm>
              <a:off x="5428777" y="2192859"/>
              <a:ext cx="17802" cy="50101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317889" y="2201439"/>
              <a:ext cx="3103246" cy="1938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p:cNvCxnSpPr>
              <a:endCxn id="73" idx="3"/>
            </p:cNvCxnSpPr>
            <p:nvPr/>
          </p:nvCxnSpPr>
          <p:spPr>
            <a:xfrm flipV="1">
              <a:off x="5452379" y="2374364"/>
              <a:ext cx="1691380" cy="33008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9" name="Oval 128"/>
            <p:cNvSpPr>
              <a:spLocks noChangeArrowheads="1"/>
            </p:cNvSpPr>
            <p:nvPr/>
          </p:nvSpPr>
          <p:spPr bwMode="auto">
            <a:xfrm rot="663067">
              <a:off x="6483668" y="2139814"/>
              <a:ext cx="449543" cy="601259"/>
            </a:xfrm>
            <a:prstGeom prst="ellipse">
              <a:avLst/>
            </a:prstGeom>
            <a:noFill/>
            <a:ln w="19050">
              <a:solidFill>
                <a:schemeClr val="bg1">
                  <a:lumMod val="50000"/>
                </a:schemeClr>
              </a:solidFill>
              <a:prstDash val="sysDash"/>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30" name="Oval 129"/>
            <p:cNvSpPr>
              <a:spLocks noChangeArrowheads="1"/>
            </p:cNvSpPr>
            <p:nvPr/>
          </p:nvSpPr>
          <p:spPr bwMode="auto">
            <a:xfrm rot="663067">
              <a:off x="6539834" y="2226414"/>
              <a:ext cx="319765" cy="429673"/>
            </a:xfrm>
            <a:prstGeom prst="ellipse">
              <a:avLst/>
            </a:prstGeom>
            <a:noFill/>
            <a:ln w="19050">
              <a:solidFill>
                <a:schemeClr val="bg1">
                  <a:lumMod val="50000"/>
                </a:schemeClr>
              </a:solidFill>
              <a:prstDash val="sysDash"/>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sp>
          <p:nvSpPr>
            <p:cNvPr id="131" name="Oval 130"/>
            <p:cNvSpPr>
              <a:spLocks noChangeArrowheads="1"/>
            </p:cNvSpPr>
            <p:nvPr/>
          </p:nvSpPr>
          <p:spPr bwMode="auto">
            <a:xfrm rot="663067">
              <a:off x="6602693" y="2314337"/>
              <a:ext cx="192662" cy="258088"/>
            </a:xfrm>
            <a:prstGeom prst="ellipse">
              <a:avLst/>
            </a:prstGeom>
            <a:noFill/>
            <a:ln w="19050">
              <a:solidFill>
                <a:schemeClr val="bg1">
                  <a:lumMod val="50000"/>
                </a:schemeClr>
              </a:solidFill>
              <a:prstDash val="sysDash"/>
              <a:round/>
              <a:headEnd/>
              <a:tailEnd/>
            </a:ln>
            <a:effectLst>
              <a:outerShdw dist="23000" dir="5400000" rotWithShape="0">
                <a:srgbClr val="808080">
                  <a:alpha val="34999"/>
                </a:srgbClr>
              </a:outerShdw>
            </a:effectLst>
          </p:spPr>
          <p:txBody>
            <a:bodyPr anchor="ctr"/>
            <a:lstStyle/>
            <a:p>
              <a:pPr algn="ctr">
                <a:defRPr/>
              </a:pPr>
              <a:endParaRPr lang="en-US">
                <a:solidFill>
                  <a:schemeClr val="lt1"/>
                </a:solidFill>
              </a:endParaRPr>
            </a:p>
          </p:txBody>
        </p:sp>
        <p:cxnSp>
          <p:nvCxnSpPr>
            <p:cNvPr id="132" name="Straight Connector 92"/>
            <p:cNvCxnSpPr>
              <a:cxnSpLocks noChangeShapeType="1"/>
            </p:cNvCxnSpPr>
            <p:nvPr/>
          </p:nvCxnSpPr>
          <p:spPr bwMode="auto">
            <a:xfrm rot="5400000">
              <a:off x="6280446" y="2426107"/>
              <a:ext cx="816804" cy="1339"/>
            </a:xfrm>
            <a:prstGeom prst="line">
              <a:avLst/>
            </a:prstGeom>
            <a:noFill/>
            <a:ln w="19050">
              <a:solidFill>
                <a:schemeClr val="bg1">
                  <a:lumMod val="50000"/>
                </a:schemeClr>
              </a:solidFill>
              <a:prstDash val="sysDash"/>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33" name="Straight Connector 93"/>
            <p:cNvCxnSpPr>
              <a:cxnSpLocks noChangeShapeType="1"/>
            </p:cNvCxnSpPr>
            <p:nvPr/>
          </p:nvCxnSpPr>
          <p:spPr bwMode="auto">
            <a:xfrm>
              <a:off x="6376379" y="2410246"/>
              <a:ext cx="607418" cy="83666"/>
            </a:xfrm>
            <a:prstGeom prst="line">
              <a:avLst/>
            </a:prstGeom>
            <a:noFill/>
            <a:ln w="19050">
              <a:solidFill>
                <a:schemeClr val="bg1">
                  <a:lumMod val="50000"/>
                </a:schemeClr>
              </a:solidFill>
              <a:prstDash val="sysDash"/>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59" name="TextBox 70"/>
            <p:cNvSpPr txBox="1">
              <a:spLocks noChangeArrowheads="1"/>
            </p:cNvSpPr>
            <p:nvPr/>
          </p:nvSpPr>
          <p:spPr bwMode="auto">
            <a:xfrm>
              <a:off x="4182339" y="2462883"/>
              <a:ext cx="849128" cy="23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pPr>
              <a:r>
                <a:rPr lang="en-US" altLang="en-US" sz="1200" b="1" dirty="0"/>
                <a:t>ND FILTER</a:t>
              </a:r>
              <a:endParaRPr lang="en-US" altLang="en-US" sz="1200" dirty="0"/>
            </a:p>
          </p:txBody>
        </p:sp>
        <p:cxnSp>
          <p:nvCxnSpPr>
            <p:cNvPr id="60" name="Straight Connector 68"/>
            <p:cNvCxnSpPr>
              <a:cxnSpLocks noChangeShapeType="1"/>
            </p:cNvCxnSpPr>
            <p:nvPr/>
          </p:nvCxnSpPr>
          <p:spPr bwMode="auto">
            <a:xfrm flipH="1">
              <a:off x="3011681" y="1093211"/>
              <a:ext cx="289715" cy="215952"/>
            </a:xfrm>
            <a:prstGeom prst="line">
              <a:avLst/>
            </a:prstGeom>
            <a:noFill/>
            <a:ln w="50800">
              <a:solidFill>
                <a:schemeClr val="tx1"/>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61" name="Straight Arrow Connector 60"/>
            <p:cNvCxnSpPr/>
            <p:nvPr/>
          </p:nvCxnSpPr>
          <p:spPr>
            <a:xfrm flipH="1" flipV="1">
              <a:off x="3181198" y="1234442"/>
              <a:ext cx="1328430" cy="930998"/>
            </a:xfrm>
            <a:prstGeom prst="straightConnector1">
              <a:avLst/>
            </a:prstGeom>
            <a:ln w="1905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107"/>
            <p:cNvCxnSpPr>
              <a:cxnSpLocks noChangeShapeType="1"/>
            </p:cNvCxnSpPr>
            <p:nvPr/>
          </p:nvCxnSpPr>
          <p:spPr bwMode="auto">
            <a:xfrm flipH="1">
              <a:off x="4498095" y="1917332"/>
              <a:ext cx="85031" cy="523111"/>
            </a:xfrm>
            <a:prstGeom prst="line">
              <a:avLst/>
            </a:prstGeom>
            <a:noFill/>
            <a:ln w="50800">
              <a:solidFill>
                <a:schemeClr val="tx2"/>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8" name="Line 23"/>
            <p:cNvSpPr>
              <a:spLocks noChangeShapeType="1"/>
            </p:cNvSpPr>
            <p:nvPr/>
          </p:nvSpPr>
          <p:spPr bwMode="auto">
            <a:xfrm>
              <a:off x="3650753" y="2277568"/>
              <a:ext cx="12844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14076824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13327</TotalTime>
  <Words>2004</Words>
  <Application>Microsoft Office PowerPoint</Application>
  <PresentationFormat>On-screen Show (4:3)</PresentationFormat>
  <Paragraphs>220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ＭＳ Ｐゴシック</vt:lpstr>
      <vt:lpstr>Arial</vt:lpstr>
      <vt:lpstr>Calibri</vt:lpstr>
      <vt:lpstr>Calibri Light</vt:lpstr>
      <vt:lpstr>Office Theme</vt:lpstr>
      <vt:lpstr>EHS 304 Laser Alignment Training</vt:lpstr>
      <vt:lpstr>PowerPoint Presentation</vt:lpstr>
      <vt:lpstr>Exercise # 1. Wedge Window Alignment</vt:lpstr>
      <vt:lpstr>Wedge Window Alignment</vt:lpstr>
      <vt:lpstr>Exercise # 2. Beam Splitter Cube Alignment</vt:lpstr>
      <vt:lpstr>Beam Splitter Cube Alignment</vt:lpstr>
      <vt:lpstr>Exercise # 3. IR Beams and Flipper Mirror Setup </vt:lpstr>
      <vt:lpstr>IR Beams and Flipper Mirror Setup </vt:lpstr>
      <vt:lpstr>Exercise # 4. IR Beams and Telescope Alignment</vt:lpstr>
      <vt:lpstr>IR Beams and Telescope Alignment</vt:lpstr>
      <vt:lpstr>Exercise # 5. Periscope Alignment </vt:lpstr>
      <vt:lpstr>Periscope Alignment </vt:lpstr>
      <vt:lpstr>Exercise # 6. Attenuation Filters</vt:lpstr>
      <vt:lpstr>Attenuation Filters</vt:lpstr>
    </vt:vector>
  </TitlesOfParts>
  <Company>LBNL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Greta I. Toncheva</dc:creator>
  <cp:lastModifiedBy>Amoroso, LeAnne</cp:lastModifiedBy>
  <cp:revision>115</cp:revision>
  <cp:lastPrinted>2018-09-17T14:38:06Z</cp:lastPrinted>
  <dcterms:created xsi:type="dcterms:W3CDTF">2018-08-14T19:46:20Z</dcterms:created>
  <dcterms:modified xsi:type="dcterms:W3CDTF">2020-09-09T18:22:11Z</dcterms:modified>
</cp:coreProperties>
</file>